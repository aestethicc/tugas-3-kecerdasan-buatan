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3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sldSz cx="12192000" cy="6858000"/>
  <p:notesSz cx="6858000" cy="12192000"/>
  <p:embeddedFontLst>
    <p:embeddedFont>
      <p:font typeface="PT Sans" panose="020B0503020203020204" pitchFamily="34" charset="0"/>
      <p:regular r:id="rId38"/>
      <p:bold r:id="rId39"/>
      <p:italic r:id="rId40"/>
    </p:embeddedFont>
    <p:embeddedFont>
      <p:font typeface="PT Sans Bold" panose="020B0703020203020204" charset="0"/>
      <p:regular r:id="rId41"/>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3" d="100"/>
          <a:sy n="73" d="100"/>
        </p:scale>
        <p:origin x="384" y="4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2.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font" Target="fonts/font3.fntdata"/><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1.fntdata"/><Relationship Id="rId20" Type="http://schemas.openxmlformats.org/officeDocument/2006/relationships/slide" Target="slides/slide19.xml"/><Relationship Id="rId41" Type="http://schemas.openxmlformats.org/officeDocument/2006/relationships/font" Target="fonts/font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264953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6E6E6"/>
          </a:solidFill>
          <a:ln/>
        </p:spPr>
      </p:sp>
      <p:sp>
        <p:nvSpPr>
          <p:cNvPr id="3" name="Shape 1"/>
          <p:cNvSpPr/>
          <p:nvPr/>
        </p:nvSpPr>
        <p:spPr>
          <a:xfrm>
            <a:off x="0" y="0"/>
            <a:ext cx="12191695" cy="68580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 Id="rId9"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22.png"/></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4.png"/></Relationships>
</file>

<file path=ppt/slides/_rels/slide1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18.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33.jpeg"/></Relationships>
</file>

<file path=ppt/slides/_rels/slide19.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34.png"/><Relationship Id="rId7" Type="http://schemas.openxmlformats.org/officeDocument/2006/relationships/image" Target="../media/image38.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20.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44.jpeg"/></Relationships>
</file>

<file path=ppt/slides/_rels/slide2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46.png"/></Relationships>
</file>

<file path=ppt/slides/_rels/slide26.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image" Target="../media/image47.png"/><Relationship Id="rId7" Type="http://schemas.openxmlformats.org/officeDocument/2006/relationships/image" Target="../media/image51.pn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50.png"/><Relationship Id="rId11" Type="http://schemas.openxmlformats.org/officeDocument/2006/relationships/image" Target="../media/image9.png"/><Relationship Id="rId5" Type="http://schemas.openxmlformats.org/officeDocument/2006/relationships/image" Target="../media/image49.png"/><Relationship Id="rId10" Type="http://schemas.openxmlformats.org/officeDocument/2006/relationships/image" Target="../media/image54.png"/><Relationship Id="rId4" Type="http://schemas.openxmlformats.org/officeDocument/2006/relationships/image" Target="../media/image48.png"/><Relationship Id="rId9" Type="http://schemas.openxmlformats.org/officeDocument/2006/relationships/image" Target="../media/image53.png"/></Relationships>
</file>

<file path=ppt/slides/_rels/slide27.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58.png"/><Relationship Id="rId4" Type="http://schemas.openxmlformats.org/officeDocument/2006/relationships/image" Target="../media/image57.png"/></Relationships>
</file>

<file path=ppt/slides/_rels/slide29.xml.rels><?xml version="1.0" encoding="UTF-8" standalone="yes"?>
<Relationships xmlns="http://schemas.openxmlformats.org/package/2006/relationships"><Relationship Id="rId3" Type="http://schemas.openxmlformats.org/officeDocument/2006/relationships/image" Target="../media/image59.png"/><Relationship Id="rId7" Type="http://schemas.openxmlformats.org/officeDocument/2006/relationships/image" Target="../media/image63.png"/><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image" Target="../media/image62.png"/><Relationship Id="rId5" Type="http://schemas.openxmlformats.org/officeDocument/2006/relationships/image" Target="../media/image61.png"/><Relationship Id="rId4" Type="http://schemas.openxmlformats.org/officeDocument/2006/relationships/image" Target="../media/image60.png"/></Relationships>
</file>

<file path=ppt/slides/_rels/slide30.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65.jpe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66.jpe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33.jpeg"/></Relationships>
</file>

<file path=ppt/slides/_rels/slide35.xml.rels><?xml version="1.0" encoding="UTF-8" standalone="yes"?>
<Relationships xmlns="http://schemas.openxmlformats.org/package/2006/relationships"><Relationship Id="rId3" Type="http://schemas.openxmlformats.org/officeDocument/2006/relationships/image" Target="../media/image68.jpeg"/><Relationship Id="rId2" Type="http://schemas.openxmlformats.org/officeDocument/2006/relationships/notesSlide" Target="../notesSlides/notesSlide35.xml"/><Relationship Id="rId1" Type="http://schemas.openxmlformats.org/officeDocument/2006/relationships/slideLayout" Target="../slideLayouts/slideLayout2.xml"/><Relationship Id="rId5" Type="http://schemas.openxmlformats.org/officeDocument/2006/relationships/image" Target="../media/image70.png"/><Relationship Id="rId4" Type="http://schemas.openxmlformats.org/officeDocument/2006/relationships/image" Target="../media/image69.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4571886" cy="6858000"/>
          </a:xfrm>
          <a:prstGeom prst="rect">
            <a:avLst/>
          </a:prstGeom>
        </p:spPr>
      </p:pic>
      <p:sp>
        <p:nvSpPr>
          <p:cNvPr id="3" name="Text 0"/>
          <p:cNvSpPr/>
          <p:nvPr/>
        </p:nvSpPr>
        <p:spPr>
          <a:xfrm>
            <a:off x="5233360" y="2304852"/>
            <a:ext cx="6296860" cy="1033463"/>
          </a:xfrm>
          <a:prstGeom prst="rect">
            <a:avLst/>
          </a:prstGeom>
          <a:noFill/>
          <a:ln/>
        </p:spPr>
        <p:txBody>
          <a:bodyPr wrap="square" lIns="0" tIns="0" rIns="0" bIns="0" rtlCol="0" anchor="t">
            <a:normAutofit/>
          </a:bodyPr>
          <a:lstStyle/>
          <a:p>
            <a:pPr marL="0" indent="0" algn="l">
              <a:lnSpc>
                <a:spcPct val="104000"/>
              </a:lnSpc>
              <a:buNone/>
            </a:pPr>
            <a:r>
              <a:rPr lang="en-US" sz="3250" b="1" dirty="0">
                <a:solidFill>
                  <a:srgbClr val="000000"/>
                </a:solidFill>
                <a:latin typeface="PT Sans Bold" pitchFamily="34" charset="0"/>
                <a:ea typeface="PT Sans Bold" pitchFamily="34" charset="-122"/>
                <a:cs typeface="PT Sans Bold" pitchFamily="34" charset="-120"/>
              </a:rPr>
              <a:t>Ketidakpastian dalam Kecerdasan Buatan</a:t>
            </a:r>
            <a:endParaRPr lang="en-US" sz="3250" dirty="0"/>
          </a:p>
        </p:txBody>
      </p:sp>
      <p:sp>
        <p:nvSpPr>
          <p:cNvPr id="4" name="Text 1"/>
          <p:cNvSpPr/>
          <p:nvPr/>
        </p:nvSpPr>
        <p:spPr>
          <a:xfrm>
            <a:off x="5233360" y="3586361"/>
            <a:ext cx="6296860"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000000"/>
                </a:solidFill>
                <a:latin typeface="PT Sans" pitchFamily="34" charset="0"/>
                <a:ea typeface="PT Sans" pitchFamily="34" charset="-122"/>
                <a:cs typeface="PT Sans" pitchFamily="34" charset="-120"/>
              </a:rPr>
              <a:t>Memahami </a:t>
            </a:r>
            <a:r>
              <a:rPr lang="en-US" sz="1300" dirty="0">
                <a:solidFill>
                  <a:srgbClr val="F9D448"/>
                </a:solidFill>
                <a:latin typeface="PT Sans" pitchFamily="34" charset="0"/>
                <a:ea typeface="PT Sans" pitchFamily="34" charset="-122"/>
                <a:cs typeface="PT Sans" pitchFamily="34" charset="-120"/>
              </a:rPr>
              <a:t>ketidakpastian (uncertainty)</a:t>
            </a:r>
            <a:r>
              <a:rPr lang="en-US" sz="1300" dirty="0">
                <a:solidFill>
                  <a:srgbClr val="000000"/>
                </a:solidFill>
                <a:latin typeface="PT Sans" pitchFamily="34" charset="0"/>
                <a:ea typeface="PT Sans" pitchFamily="34" charset="-122"/>
                <a:cs typeface="PT Sans" pitchFamily="34" charset="-120"/>
              </a:rPr>
              <a:t> dalam AI dan cara mengatasinya menggunakan penalaran statistik — mulai dari probabilitas, Teorema Bayes, hingga Faktor Kepastian.</a:t>
            </a:r>
            <a:endParaRPr lang="en-US" sz="1300" dirty="0"/>
          </a:p>
        </p:txBody>
      </p:sp>
      <p:sp>
        <p:nvSpPr>
          <p:cNvPr id="5" name="Shape 2"/>
          <p:cNvSpPr/>
          <p:nvPr/>
        </p:nvSpPr>
        <p:spPr>
          <a:xfrm>
            <a:off x="5233360" y="4301629"/>
            <a:ext cx="1470484" cy="251420"/>
          </a:xfrm>
          <a:prstGeom prst="roundRect">
            <a:avLst>
              <a:gd name="adj" fmla="val 22103"/>
            </a:avLst>
          </a:prstGeom>
          <a:solidFill>
            <a:srgbClr val="FDF3CE"/>
          </a:solidFill>
          <a:ln/>
        </p:spPr>
      </p:sp>
      <p:sp>
        <p:nvSpPr>
          <p:cNvPr id="6" name="Text 3"/>
          <p:cNvSpPr/>
          <p:nvPr/>
        </p:nvSpPr>
        <p:spPr>
          <a:xfrm>
            <a:off x="5332577" y="4351238"/>
            <a:ext cx="1881637" cy="152202"/>
          </a:xfrm>
          <a:prstGeom prst="rect">
            <a:avLst/>
          </a:prstGeom>
          <a:noFill/>
          <a:ln/>
        </p:spPr>
        <p:txBody>
          <a:bodyPr wrap="none" lIns="0" tIns="0" rIns="0" bIns="0" rtlCol="0" anchor="t"/>
          <a:lstStyle/>
          <a:p>
            <a:pPr marL="0" indent="0" algn="l">
              <a:lnSpc>
                <a:spcPct val="96000"/>
              </a:lnSpc>
              <a:buNone/>
            </a:pPr>
            <a:r>
              <a:rPr lang="en-US" sz="1000" dirty="0">
                <a:solidFill>
                  <a:srgbClr val="000000"/>
                </a:solidFill>
                <a:latin typeface="PT Sans" pitchFamily="34" charset="0"/>
                <a:ea typeface="PT Sans" pitchFamily="34" charset="-122"/>
                <a:cs typeface="PT Sans" pitchFamily="34" charset="-120"/>
              </a:rPr>
              <a:t>KECERDASAN BUATAN</a:t>
            </a:r>
            <a:endParaRPr lang="en-US" sz="1000" dirty="0"/>
          </a:p>
        </p:txBody>
      </p:sp>
      <p:sp>
        <p:nvSpPr>
          <p:cNvPr id="7" name="Shape 4"/>
          <p:cNvSpPr/>
          <p:nvPr/>
        </p:nvSpPr>
        <p:spPr>
          <a:xfrm>
            <a:off x="6786492" y="4301629"/>
            <a:ext cx="1511064" cy="251420"/>
          </a:xfrm>
          <a:prstGeom prst="roundRect">
            <a:avLst>
              <a:gd name="adj" fmla="val 22103"/>
            </a:avLst>
          </a:prstGeom>
          <a:noFill/>
          <a:ln w="6350">
            <a:solidFill>
              <a:srgbClr val="F9D448"/>
            </a:solidFill>
            <a:prstDash val="solid"/>
          </a:ln>
        </p:spPr>
      </p:sp>
      <p:sp>
        <p:nvSpPr>
          <p:cNvPr id="8" name="Text 5"/>
          <p:cNvSpPr/>
          <p:nvPr/>
        </p:nvSpPr>
        <p:spPr>
          <a:xfrm>
            <a:off x="6885708" y="4351238"/>
            <a:ext cx="1922216" cy="152202"/>
          </a:xfrm>
          <a:prstGeom prst="rect">
            <a:avLst/>
          </a:prstGeom>
          <a:noFill/>
          <a:ln/>
        </p:spPr>
        <p:txBody>
          <a:bodyPr wrap="none" lIns="0" tIns="0" rIns="0" bIns="0" rtlCol="0" anchor="t"/>
          <a:lstStyle/>
          <a:p>
            <a:pPr marL="0" indent="0" algn="l">
              <a:lnSpc>
                <a:spcPct val="96000"/>
              </a:lnSpc>
              <a:buNone/>
            </a:pPr>
            <a:r>
              <a:rPr lang="en-US" sz="1000" dirty="0">
                <a:solidFill>
                  <a:srgbClr val="F9D448"/>
                </a:solidFill>
                <a:latin typeface="PT Sans" pitchFamily="34" charset="0"/>
                <a:ea typeface="PT Sans" pitchFamily="34" charset="-122"/>
                <a:cs typeface="PT Sans" pitchFamily="34" charset="-120"/>
              </a:rPr>
              <a:t>PENALARAN STATISTIK</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619809" y="0"/>
            <a:ext cx="4571886" cy="6858000"/>
          </a:xfrm>
          <a:prstGeom prst="rect">
            <a:avLst/>
          </a:prstGeom>
        </p:spPr>
      </p:pic>
      <p:sp>
        <p:nvSpPr>
          <p:cNvPr id="3" name="Text 0"/>
          <p:cNvSpPr/>
          <p:nvPr/>
        </p:nvSpPr>
        <p:spPr>
          <a:xfrm>
            <a:off x="661475" y="1733748"/>
            <a:ext cx="6296860" cy="516731"/>
          </a:xfrm>
          <a:prstGeom prst="rect">
            <a:avLst/>
          </a:prstGeom>
          <a:noFill/>
          <a:ln/>
        </p:spPr>
        <p:txBody>
          <a:bodyPr wrap="none" lIns="0" tIns="0" rIns="0" bIns="0" rtlCol="0" anchor="t"/>
          <a:lstStyle/>
          <a:p>
            <a:pPr marL="0" indent="0" algn="l">
              <a:lnSpc>
                <a:spcPct val="104000"/>
              </a:lnSpc>
              <a:buNone/>
            </a:pPr>
            <a:r>
              <a:rPr lang="en-US" sz="3250" b="1" dirty="0">
                <a:solidFill>
                  <a:srgbClr val="000000"/>
                </a:solidFill>
                <a:latin typeface="PT Sans Bold" pitchFamily="34" charset="0"/>
                <a:ea typeface="PT Sans Bold" pitchFamily="34" charset="-122"/>
                <a:cs typeface="PT Sans Bold" pitchFamily="34" charset="-120"/>
              </a:rPr>
              <a:t>Tujuan Pembelajaran</a:t>
            </a:r>
            <a:endParaRPr lang="en-US" sz="3250" dirty="0"/>
          </a:p>
        </p:txBody>
      </p:sp>
      <p:sp>
        <p:nvSpPr>
          <p:cNvPr id="4" name="Shape 1"/>
          <p:cNvSpPr/>
          <p:nvPr/>
        </p:nvSpPr>
        <p:spPr>
          <a:xfrm>
            <a:off x="661475" y="2498527"/>
            <a:ext cx="6296860" cy="1230213"/>
          </a:xfrm>
          <a:prstGeom prst="roundRect">
            <a:avLst>
              <a:gd name="adj" fmla="val 5647"/>
            </a:avLst>
          </a:prstGeom>
          <a:solidFill>
            <a:srgbClr val="FDF3CE"/>
          </a:solidFill>
          <a:ln w="6350">
            <a:solidFill>
              <a:srgbClr val="E3D9B4"/>
            </a:solidFill>
            <a:prstDash val="solid"/>
          </a:ln>
        </p:spPr>
      </p:sp>
      <p:sp>
        <p:nvSpPr>
          <p:cNvPr id="5" name="Text 2"/>
          <p:cNvSpPr/>
          <p:nvPr/>
        </p:nvSpPr>
        <p:spPr>
          <a:xfrm>
            <a:off x="833119" y="2670175"/>
            <a:ext cx="5953571" cy="258465"/>
          </a:xfrm>
          <a:prstGeom prst="rect">
            <a:avLst/>
          </a:prstGeom>
          <a:noFill/>
          <a:ln/>
        </p:spPr>
        <p:txBody>
          <a:bodyPr wrap="none" lIns="0" tIns="0" rIns="0" bIns="0" rtlCol="0" anchor="t"/>
          <a:lstStyle/>
          <a:p>
            <a:pPr marL="0" indent="0" algn="l">
              <a:lnSpc>
                <a:spcPct val="104000"/>
              </a:lnSpc>
              <a:buNone/>
            </a:pPr>
            <a:r>
              <a:rPr lang="en-US" sz="1600" b="1" dirty="0">
                <a:solidFill>
                  <a:srgbClr val="000000"/>
                </a:solidFill>
                <a:latin typeface="PT Sans Bold" pitchFamily="34" charset="0"/>
                <a:ea typeface="PT Sans Bold" pitchFamily="34" charset="-122"/>
                <a:cs typeface="PT Sans Bold" pitchFamily="34" charset="-120"/>
              </a:rPr>
              <a:t>Memahami Ketidakpastian</a:t>
            </a:r>
            <a:endParaRPr lang="en-US" sz="1600" dirty="0"/>
          </a:p>
        </p:txBody>
      </p:sp>
      <p:sp>
        <p:nvSpPr>
          <p:cNvPr id="6" name="Text 3"/>
          <p:cNvSpPr/>
          <p:nvPr/>
        </p:nvSpPr>
        <p:spPr>
          <a:xfrm>
            <a:off x="833119" y="3027859"/>
            <a:ext cx="5953571"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000000"/>
                </a:solidFill>
                <a:latin typeface="PT Sans" pitchFamily="34" charset="0"/>
                <a:ea typeface="PT Sans" pitchFamily="34" charset="-122"/>
                <a:cs typeface="PT Sans" pitchFamily="34" charset="-120"/>
              </a:rPr>
              <a:t>Menjelaskan mengapa ketidakpastian muncul dalam sistem kecerdasan buatan dan penalaran berbasis fakta.</a:t>
            </a:r>
            <a:endParaRPr lang="en-US" sz="1300" dirty="0"/>
          </a:p>
        </p:txBody>
      </p:sp>
      <p:sp>
        <p:nvSpPr>
          <p:cNvPr id="7" name="Shape 4"/>
          <p:cNvSpPr/>
          <p:nvPr/>
        </p:nvSpPr>
        <p:spPr>
          <a:xfrm>
            <a:off x="661475" y="3894038"/>
            <a:ext cx="6296860" cy="1230213"/>
          </a:xfrm>
          <a:prstGeom prst="roundRect">
            <a:avLst>
              <a:gd name="adj" fmla="val 5647"/>
            </a:avLst>
          </a:prstGeom>
          <a:solidFill>
            <a:srgbClr val="FDF3CE"/>
          </a:solidFill>
          <a:ln w="6350">
            <a:solidFill>
              <a:srgbClr val="E3D9B4"/>
            </a:solidFill>
            <a:prstDash val="solid"/>
          </a:ln>
        </p:spPr>
      </p:sp>
      <p:sp>
        <p:nvSpPr>
          <p:cNvPr id="8" name="Text 5"/>
          <p:cNvSpPr/>
          <p:nvPr/>
        </p:nvSpPr>
        <p:spPr>
          <a:xfrm>
            <a:off x="833119" y="4065687"/>
            <a:ext cx="5953571" cy="258465"/>
          </a:xfrm>
          <a:prstGeom prst="rect">
            <a:avLst/>
          </a:prstGeom>
          <a:noFill/>
          <a:ln/>
        </p:spPr>
        <p:txBody>
          <a:bodyPr wrap="none" lIns="0" tIns="0" rIns="0" bIns="0" rtlCol="0" anchor="t"/>
          <a:lstStyle/>
          <a:p>
            <a:pPr marL="0" indent="0" algn="l">
              <a:lnSpc>
                <a:spcPct val="104000"/>
              </a:lnSpc>
              <a:buNone/>
            </a:pPr>
            <a:r>
              <a:rPr lang="en-US" sz="1600" b="1" dirty="0">
                <a:solidFill>
                  <a:srgbClr val="000000"/>
                </a:solidFill>
                <a:latin typeface="PT Sans Bold" pitchFamily="34" charset="0"/>
                <a:ea typeface="PT Sans Bold" pitchFamily="34" charset="-122"/>
                <a:cs typeface="PT Sans Bold" pitchFamily="34" charset="-120"/>
              </a:rPr>
              <a:t>Mengatasi Ketidakpastian</a:t>
            </a:r>
            <a:endParaRPr lang="en-US" sz="1600" dirty="0"/>
          </a:p>
        </p:txBody>
      </p:sp>
      <p:sp>
        <p:nvSpPr>
          <p:cNvPr id="9" name="Text 6"/>
          <p:cNvSpPr/>
          <p:nvPr/>
        </p:nvSpPr>
        <p:spPr>
          <a:xfrm>
            <a:off x="833119" y="4423370"/>
            <a:ext cx="5953571"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000000"/>
                </a:solidFill>
                <a:latin typeface="PT Sans" pitchFamily="34" charset="0"/>
                <a:ea typeface="PT Sans" pitchFamily="34" charset="-122"/>
                <a:cs typeface="PT Sans" pitchFamily="34" charset="-120"/>
              </a:rPr>
              <a:t>Menggunakan penalaran statistik — probabilitas, Teorema Bayes, dan Certainty Factor — sebagai solusi.</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475" y="2019796"/>
            <a:ext cx="10868745" cy="516731"/>
          </a:xfrm>
          <a:prstGeom prst="rect">
            <a:avLst/>
          </a:prstGeom>
          <a:noFill/>
          <a:ln/>
        </p:spPr>
        <p:txBody>
          <a:bodyPr wrap="none" lIns="0" tIns="0" rIns="0" bIns="0" rtlCol="0" anchor="t"/>
          <a:lstStyle/>
          <a:p>
            <a:pPr marL="0" indent="0" algn="l">
              <a:lnSpc>
                <a:spcPct val="104000"/>
              </a:lnSpc>
              <a:buNone/>
            </a:pPr>
            <a:r>
              <a:rPr lang="en-US" sz="3250" b="1" dirty="0">
                <a:solidFill>
                  <a:srgbClr val="000000"/>
                </a:solidFill>
                <a:latin typeface="PT Sans Bold" pitchFamily="34" charset="0"/>
                <a:ea typeface="PT Sans Bold" pitchFamily="34" charset="-122"/>
                <a:cs typeface="PT Sans Bold" pitchFamily="34" charset="-120"/>
              </a:rPr>
              <a:t>Apa Itu Ketidakpastian?</a:t>
            </a:r>
            <a:endParaRPr lang="en-US" sz="3250" dirty="0"/>
          </a:p>
        </p:txBody>
      </p:sp>
      <p:sp>
        <p:nvSpPr>
          <p:cNvPr id="3" name="Text 1"/>
          <p:cNvSpPr/>
          <p:nvPr/>
        </p:nvSpPr>
        <p:spPr>
          <a:xfrm>
            <a:off x="661475" y="2867223"/>
            <a:ext cx="10868745"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000000"/>
                </a:solidFill>
                <a:latin typeface="PT Sans" pitchFamily="34" charset="0"/>
                <a:ea typeface="PT Sans" pitchFamily="34" charset="-122"/>
                <a:cs typeface="PT Sans" pitchFamily="34" charset="-120"/>
              </a:rPr>
              <a:t>Dalam kecerdasan buatan, </a:t>
            </a:r>
            <a:r>
              <a:rPr lang="en-US" sz="1300" b="1" dirty="0">
                <a:solidFill>
                  <a:srgbClr val="000000"/>
                </a:solidFill>
                <a:latin typeface="PT Sans Bold" pitchFamily="34" charset="0"/>
                <a:ea typeface="PT Sans Bold" pitchFamily="34" charset="-122"/>
                <a:cs typeface="PT Sans Bold" pitchFamily="34" charset="-120"/>
              </a:rPr>
              <a:t>ketidakpastian</a:t>
            </a:r>
            <a:r>
              <a:rPr lang="en-US" sz="1300" dirty="0">
                <a:solidFill>
                  <a:srgbClr val="000000"/>
                </a:solidFill>
                <a:latin typeface="PT Sans" pitchFamily="34" charset="0"/>
                <a:ea typeface="PT Sans" pitchFamily="34" charset="-122"/>
                <a:cs typeface="PT Sans" pitchFamily="34" charset="-120"/>
              </a:rPr>
              <a:t> muncul karena banyak masalah tidak dapat dimodelkan secara lengkap dan konsisten. Sistem penalaran sering menghadapi situasi di mana fakta baru dapat mengubah atau membatalkan kesimpulan yang sudah terbentuk sebelumnya.</a:t>
            </a:r>
            <a:endParaRPr lang="en-US" sz="1300" dirty="0"/>
          </a:p>
        </p:txBody>
      </p:sp>
      <p:pic>
        <p:nvPicPr>
          <p:cNvPr id="4"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61475" y="3582491"/>
            <a:ext cx="3512653" cy="1255613"/>
          </a:xfrm>
          <a:prstGeom prst="rect">
            <a:avLst/>
          </a:prstGeom>
        </p:spPr>
      </p:pic>
      <p:sp>
        <p:nvSpPr>
          <p:cNvPr id="5" name="Text 2"/>
          <p:cNvSpPr/>
          <p:nvPr/>
        </p:nvSpPr>
        <p:spPr>
          <a:xfrm>
            <a:off x="922017" y="3766840"/>
            <a:ext cx="3067767" cy="258465"/>
          </a:xfrm>
          <a:prstGeom prst="rect">
            <a:avLst/>
          </a:prstGeom>
          <a:noFill/>
          <a:ln/>
        </p:spPr>
        <p:txBody>
          <a:bodyPr wrap="none" lIns="0" tIns="0" rIns="0" bIns="0" rtlCol="0" anchor="t"/>
          <a:lstStyle/>
          <a:p>
            <a:pPr marL="0" indent="0" algn="l">
              <a:lnSpc>
                <a:spcPct val="104000"/>
              </a:lnSpc>
              <a:buNone/>
            </a:pPr>
            <a:r>
              <a:rPr lang="en-US" sz="1600" b="1" dirty="0">
                <a:solidFill>
                  <a:srgbClr val="000000"/>
                </a:solidFill>
                <a:latin typeface="PT Sans Bold" pitchFamily="34" charset="0"/>
                <a:ea typeface="PT Sans Bold" pitchFamily="34" charset="-122"/>
                <a:cs typeface="PT Sans Bold" pitchFamily="34" charset="-120"/>
              </a:rPr>
              <a:t>Adanya Ketidakpastian</a:t>
            </a:r>
            <a:endParaRPr lang="en-US" sz="1600" dirty="0"/>
          </a:p>
        </p:txBody>
      </p:sp>
      <p:sp>
        <p:nvSpPr>
          <p:cNvPr id="6" name="Text 3"/>
          <p:cNvSpPr/>
          <p:nvPr/>
        </p:nvSpPr>
        <p:spPr>
          <a:xfrm>
            <a:off x="922017" y="4124523"/>
            <a:ext cx="3067767"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000000"/>
                </a:solidFill>
                <a:latin typeface="PT Sans" pitchFamily="34" charset="0"/>
                <a:ea typeface="PT Sans" pitchFamily="34" charset="-122"/>
                <a:cs typeface="PT Sans" pitchFamily="34" charset="-120"/>
              </a:rPr>
              <a:t>Informasi yang tersedia tidak selalu lengkap atau pasti.</a:t>
            </a:r>
            <a:endParaRPr lang="en-US" sz="1300" dirty="0"/>
          </a:p>
        </p:txBody>
      </p:sp>
      <p:pic>
        <p:nvPicPr>
          <p:cNvPr id="7" name="Image 1"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339422" y="3582491"/>
            <a:ext cx="3512752" cy="1255613"/>
          </a:xfrm>
          <a:prstGeom prst="rect">
            <a:avLst/>
          </a:prstGeom>
        </p:spPr>
      </p:pic>
      <p:sp>
        <p:nvSpPr>
          <p:cNvPr id="8" name="Text 4"/>
          <p:cNvSpPr/>
          <p:nvPr/>
        </p:nvSpPr>
        <p:spPr>
          <a:xfrm>
            <a:off x="4599964" y="3766840"/>
            <a:ext cx="3067866" cy="258465"/>
          </a:xfrm>
          <a:prstGeom prst="rect">
            <a:avLst/>
          </a:prstGeom>
          <a:noFill/>
          <a:ln/>
        </p:spPr>
        <p:txBody>
          <a:bodyPr wrap="none" lIns="0" tIns="0" rIns="0" bIns="0" rtlCol="0" anchor="t"/>
          <a:lstStyle/>
          <a:p>
            <a:pPr marL="0" indent="0" algn="l">
              <a:lnSpc>
                <a:spcPct val="104000"/>
              </a:lnSpc>
              <a:buNone/>
            </a:pPr>
            <a:r>
              <a:rPr lang="en-US" sz="1600" b="1" dirty="0">
                <a:solidFill>
                  <a:srgbClr val="000000"/>
                </a:solidFill>
                <a:latin typeface="PT Sans Bold" pitchFamily="34" charset="0"/>
                <a:ea typeface="PT Sans Bold" pitchFamily="34" charset="-122"/>
                <a:cs typeface="PT Sans Bold" pitchFamily="34" charset="-120"/>
              </a:rPr>
              <a:t>Perubahan Pengetahuan</a:t>
            </a:r>
            <a:endParaRPr lang="en-US" sz="1600" dirty="0"/>
          </a:p>
        </p:txBody>
      </p:sp>
      <p:sp>
        <p:nvSpPr>
          <p:cNvPr id="9" name="Text 5"/>
          <p:cNvSpPr/>
          <p:nvPr/>
        </p:nvSpPr>
        <p:spPr>
          <a:xfrm>
            <a:off x="4599964" y="4124523"/>
            <a:ext cx="3067866"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000000"/>
                </a:solidFill>
                <a:latin typeface="PT Sans" pitchFamily="34" charset="0"/>
                <a:ea typeface="PT Sans" pitchFamily="34" charset="-122"/>
                <a:cs typeface="PT Sans" pitchFamily="34" charset="-120"/>
              </a:rPr>
              <a:t>Pengetahuan dapat berubah seiring waktu dan konteks.</a:t>
            </a:r>
            <a:endParaRPr lang="en-US" sz="1300" dirty="0"/>
          </a:p>
        </p:txBody>
      </p:sp>
      <p:pic>
        <p:nvPicPr>
          <p:cNvPr id="10" name="Image 2"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017468" y="3582491"/>
            <a:ext cx="3512653" cy="1255613"/>
          </a:xfrm>
          <a:prstGeom prst="rect">
            <a:avLst/>
          </a:prstGeom>
        </p:spPr>
      </p:pic>
      <p:sp>
        <p:nvSpPr>
          <p:cNvPr id="11" name="Text 6"/>
          <p:cNvSpPr/>
          <p:nvPr/>
        </p:nvSpPr>
        <p:spPr>
          <a:xfrm>
            <a:off x="8278010" y="3766840"/>
            <a:ext cx="3067767" cy="258465"/>
          </a:xfrm>
          <a:prstGeom prst="rect">
            <a:avLst/>
          </a:prstGeom>
          <a:noFill/>
          <a:ln/>
        </p:spPr>
        <p:txBody>
          <a:bodyPr wrap="none" lIns="0" tIns="0" rIns="0" bIns="0" rtlCol="0" anchor="t"/>
          <a:lstStyle/>
          <a:p>
            <a:pPr marL="0" indent="0" algn="l">
              <a:lnSpc>
                <a:spcPct val="104000"/>
              </a:lnSpc>
              <a:buNone/>
            </a:pPr>
            <a:r>
              <a:rPr lang="en-US" sz="1600" b="1" dirty="0">
                <a:solidFill>
                  <a:srgbClr val="000000"/>
                </a:solidFill>
                <a:latin typeface="PT Sans Bold" pitchFamily="34" charset="0"/>
                <a:ea typeface="PT Sans Bold" pitchFamily="34" charset="-122"/>
                <a:cs typeface="PT Sans Bold" pitchFamily="34" charset="-120"/>
              </a:rPr>
              <a:t>Fakta Baru Mengubah Konklusi</a:t>
            </a:r>
            <a:endParaRPr lang="en-US" sz="1600" dirty="0"/>
          </a:p>
        </p:txBody>
      </p:sp>
      <p:sp>
        <p:nvSpPr>
          <p:cNvPr id="12" name="Text 7"/>
          <p:cNvSpPr/>
          <p:nvPr/>
        </p:nvSpPr>
        <p:spPr>
          <a:xfrm>
            <a:off x="8278010" y="4124523"/>
            <a:ext cx="3067767"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000000"/>
                </a:solidFill>
                <a:latin typeface="PT Sans" pitchFamily="34" charset="0"/>
                <a:ea typeface="PT Sans" pitchFamily="34" charset="-122"/>
                <a:cs typeface="PT Sans" pitchFamily="34" charset="-120"/>
              </a:rPr>
              <a:t>Penambahan fakta baru dapat membatalkan kesimpulan yang sudah ada.</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619809" y="0"/>
            <a:ext cx="4571886" cy="6858000"/>
          </a:xfrm>
          <a:prstGeom prst="rect">
            <a:avLst/>
          </a:prstGeom>
        </p:spPr>
      </p:pic>
      <p:sp>
        <p:nvSpPr>
          <p:cNvPr id="3" name="Text 0"/>
          <p:cNvSpPr/>
          <p:nvPr/>
        </p:nvSpPr>
        <p:spPr>
          <a:xfrm>
            <a:off x="661475" y="2259013"/>
            <a:ext cx="6296860" cy="1033463"/>
          </a:xfrm>
          <a:prstGeom prst="rect">
            <a:avLst/>
          </a:prstGeom>
          <a:noFill/>
          <a:ln/>
        </p:spPr>
        <p:txBody>
          <a:bodyPr wrap="square" lIns="0" tIns="0" rIns="0" bIns="0" rtlCol="0" anchor="t">
            <a:normAutofit/>
          </a:bodyPr>
          <a:lstStyle/>
          <a:p>
            <a:pPr marL="0" indent="0" algn="l">
              <a:lnSpc>
                <a:spcPct val="104000"/>
              </a:lnSpc>
              <a:buNone/>
            </a:pPr>
            <a:r>
              <a:rPr lang="en-US" sz="3250" b="1" dirty="0">
                <a:solidFill>
                  <a:srgbClr val="000000"/>
                </a:solidFill>
                <a:latin typeface="PT Sans Bold" pitchFamily="34" charset="0"/>
                <a:ea typeface="PT Sans Bold" pitchFamily="34" charset="-122"/>
                <a:cs typeface="PT Sans Bold" pitchFamily="34" charset="-120"/>
              </a:rPr>
              <a:t>Analogi Ketidakpastian dalam Kehidupan Sehari-hari</a:t>
            </a:r>
            <a:endParaRPr lang="en-US" sz="3250" dirty="0"/>
          </a:p>
        </p:txBody>
      </p:sp>
      <p:sp>
        <p:nvSpPr>
          <p:cNvPr id="4" name="Text 1"/>
          <p:cNvSpPr/>
          <p:nvPr/>
        </p:nvSpPr>
        <p:spPr>
          <a:xfrm>
            <a:off x="661475" y="3540522"/>
            <a:ext cx="6296860" cy="1058466"/>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000000"/>
                </a:solidFill>
                <a:latin typeface="PT Sans" pitchFamily="34" charset="0"/>
                <a:ea typeface="PT Sans" pitchFamily="34" charset="-122"/>
                <a:cs typeface="PT Sans" pitchFamily="34" charset="-120"/>
              </a:rPr>
              <a:t>Bayangkan Anda menyimpulkan bahwa </a:t>
            </a:r>
            <a:r>
              <a:rPr lang="en-US" sz="1300" i="1" dirty="0">
                <a:solidFill>
                  <a:srgbClr val="000000"/>
                </a:solidFill>
                <a:latin typeface="PT Sans" pitchFamily="34" charset="0"/>
                <a:ea typeface="PT Sans" pitchFamily="34" charset="-122"/>
                <a:cs typeface="PT Sans" pitchFamily="34" charset="-120"/>
              </a:rPr>
              <a:t>"semua buah yang merah itu manis"</a:t>
            </a:r>
            <a:r>
              <a:rPr lang="en-US" sz="1300" dirty="0">
                <a:solidFill>
                  <a:srgbClr val="000000"/>
                </a:solidFill>
                <a:latin typeface="PT Sans" pitchFamily="34" charset="0"/>
                <a:ea typeface="PT Sans" pitchFamily="34" charset="-122"/>
                <a:cs typeface="PT Sans" pitchFamily="34" charset="-120"/>
              </a:rPr>
              <a:t> berdasarkan pengalaman makan apel dan stroberi. Namun, ketika Anda menemukan </a:t>
            </a:r>
            <a:r>
              <a:rPr lang="en-US" sz="1300" b="1" dirty="0">
                <a:solidFill>
                  <a:srgbClr val="000000"/>
                </a:solidFill>
                <a:latin typeface="PT Sans Bold" pitchFamily="34" charset="0"/>
                <a:ea typeface="PT Sans Bold" pitchFamily="34" charset="-122"/>
                <a:cs typeface="PT Sans Bold" pitchFamily="34" charset="-120"/>
              </a:rPr>
              <a:t>cabai merah</a:t>
            </a:r>
            <a:r>
              <a:rPr lang="en-US" sz="1300" dirty="0">
                <a:solidFill>
                  <a:srgbClr val="000000"/>
                </a:solidFill>
                <a:latin typeface="PT Sans" pitchFamily="34" charset="0"/>
                <a:ea typeface="PT Sans" pitchFamily="34" charset="-122"/>
                <a:cs typeface="PT Sans" pitchFamily="34" charset="-120"/>
              </a:rPr>
              <a:t>, kesimpulan itu langsung gugur. Inilah esensi ketidakpastian — fakta baru bisa membatalkan konklusi lama.</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1999555"/>
            <a:ext cx="10868745" cy="516731"/>
          </a:xfrm>
          <a:prstGeom prst="rect">
            <a:avLst/>
          </a:prstGeom>
          <a:noFill/>
          <a:ln/>
        </p:spPr>
        <p:txBody>
          <a:bodyPr wrap="none" lIns="0" tIns="0" rIns="0" bIns="0" rtlCol="0" anchor="t"/>
          <a:lstStyle/>
          <a:p>
            <a:pPr marL="0" indent="0" algn="l">
              <a:lnSpc>
                <a:spcPct val="104000"/>
              </a:lnSpc>
              <a:buNone/>
            </a:pPr>
            <a:r>
              <a:rPr lang="en-US" sz="3250" b="1" dirty="0">
                <a:solidFill>
                  <a:srgbClr val="000000"/>
                </a:solidFill>
                <a:latin typeface="PT Sans Bold" pitchFamily="34" charset="0"/>
                <a:ea typeface="PT Sans Bold" pitchFamily="34" charset="-122"/>
                <a:cs typeface="PT Sans Bold" pitchFamily="34" charset="-120"/>
              </a:rPr>
              <a:t>Contoh: Penalaran Induktif yang Tidak Pasti</a:t>
            </a:r>
            <a:endParaRPr lang="en-US" sz="3250" dirty="0"/>
          </a:p>
        </p:txBody>
      </p:sp>
      <p:sp>
        <p:nvSpPr>
          <p:cNvPr id="3" name="Shape 1"/>
          <p:cNvSpPr/>
          <p:nvPr/>
        </p:nvSpPr>
        <p:spPr>
          <a:xfrm>
            <a:off x="542415" y="2764334"/>
            <a:ext cx="5470785" cy="2094012"/>
          </a:xfrm>
          <a:prstGeom prst="roundRect">
            <a:avLst>
              <a:gd name="adj" fmla="val 5687"/>
            </a:avLst>
          </a:prstGeom>
          <a:solidFill>
            <a:srgbClr val="1D7CC0"/>
          </a:solidFill>
          <a:ln/>
        </p:spPr>
      </p:sp>
      <p:sp>
        <p:nvSpPr>
          <p:cNvPr id="4" name="Text 2"/>
          <p:cNvSpPr/>
          <p:nvPr/>
        </p:nvSpPr>
        <p:spPr>
          <a:xfrm>
            <a:off x="707710" y="2929632"/>
            <a:ext cx="5140196" cy="258465"/>
          </a:xfrm>
          <a:prstGeom prst="rect">
            <a:avLst/>
          </a:prstGeom>
          <a:noFill/>
          <a:ln/>
        </p:spPr>
        <p:txBody>
          <a:bodyPr wrap="none" lIns="0" tIns="0" rIns="0" bIns="0" rtlCol="0" anchor="t"/>
          <a:lstStyle/>
          <a:p>
            <a:pPr marL="0" indent="0" algn="l">
              <a:lnSpc>
                <a:spcPct val="104000"/>
              </a:lnSpc>
              <a:buNone/>
            </a:pPr>
            <a:r>
              <a:rPr lang="en-US" sz="1600" b="1" dirty="0">
                <a:solidFill>
                  <a:srgbClr val="000000"/>
                </a:solidFill>
                <a:latin typeface="PT Sans Bold" pitchFamily="34" charset="0"/>
                <a:ea typeface="PT Sans Bold" pitchFamily="34" charset="-122"/>
                <a:cs typeface="PT Sans Bold" pitchFamily="34" charset="-120"/>
              </a:rPr>
              <a:t>Premis-premis Awal</a:t>
            </a:r>
            <a:endParaRPr lang="en-US" sz="1600" dirty="0"/>
          </a:p>
        </p:txBody>
      </p:sp>
      <p:sp>
        <p:nvSpPr>
          <p:cNvPr id="5" name="Text 3"/>
          <p:cNvSpPr/>
          <p:nvPr/>
        </p:nvSpPr>
        <p:spPr>
          <a:xfrm>
            <a:off x="707710" y="3353395"/>
            <a:ext cx="5140196" cy="909538"/>
          </a:xfrm>
          <a:prstGeom prst="rect">
            <a:avLst/>
          </a:prstGeom>
          <a:noFill/>
          <a:ln/>
        </p:spPr>
        <p:txBody>
          <a:bodyPr wrap="square" lIns="0" tIns="0" rIns="0" bIns="0" rtlCol="0" anchor="t">
            <a:normAutofit/>
          </a:bodyPr>
          <a:lstStyle/>
          <a:p>
            <a:pPr marL="264160" indent="-264160" algn="l">
              <a:lnSpc>
                <a:spcPct val="133000"/>
              </a:lnSpc>
              <a:buSzPct val="100000"/>
              <a:buChar char="•"/>
            </a:pPr>
            <a:r>
              <a:rPr lang="en-US" sz="1300" dirty="0">
                <a:solidFill>
                  <a:srgbClr val="000000"/>
                </a:solidFill>
                <a:latin typeface="PT Sans" pitchFamily="34" charset="0"/>
                <a:ea typeface="PT Sans" pitchFamily="34" charset="-122"/>
                <a:cs typeface="PT Sans" pitchFamily="34" charset="-120"/>
              </a:rPr>
              <a:t>Premis 1: Aljabar adalah pelajaran yang sulit</a:t>
            </a:r>
            <a:endParaRPr lang="en-US" sz="1300" dirty="0"/>
          </a:p>
          <a:p>
            <a:pPr marL="264160" indent="-264160" algn="l">
              <a:lnSpc>
                <a:spcPct val="133000"/>
              </a:lnSpc>
              <a:buSzPct val="100000"/>
              <a:buChar char="•"/>
            </a:pPr>
            <a:r>
              <a:rPr lang="en-US" sz="1300" dirty="0">
                <a:solidFill>
                  <a:srgbClr val="000000"/>
                </a:solidFill>
                <a:latin typeface="PT Sans" pitchFamily="34" charset="0"/>
                <a:ea typeface="PT Sans" pitchFamily="34" charset="-122"/>
                <a:cs typeface="PT Sans" pitchFamily="34" charset="-120"/>
              </a:rPr>
              <a:t>Premis 2: Geometri adalah pelajaran yang sulit</a:t>
            </a:r>
            <a:endParaRPr lang="en-US" sz="1300" dirty="0"/>
          </a:p>
          <a:p>
            <a:pPr marL="264160" indent="-264160" algn="l">
              <a:lnSpc>
                <a:spcPct val="133000"/>
              </a:lnSpc>
              <a:buSzPct val="100000"/>
              <a:buChar char="•"/>
            </a:pPr>
            <a:r>
              <a:rPr lang="en-US" sz="1300" dirty="0">
                <a:solidFill>
                  <a:srgbClr val="000000"/>
                </a:solidFill>
                <a:latin typeface="PT Sans" pitchFamily="34" charset="0"/>
                <a:ea typeface="PT Sans" pitchFamily="34" charset="-122"/>
                <a:cs typeface="PT Sans" pitchFamily="34" charset="-120"/>
              </a:rPr>
              <a:t>Premis 3: Kalkulus adalah pelajaran yang sulit</a:t>
            </a:r>
            <a:endParaRPr lang="en-US" sz="1300" dirty="0"/>
          </a:p>
        </p:txBody>
      </p:sp>
      <p:sp>
        <p:nvSpPr>
          <p:cNvPr id="6" name="Text 4"/>
          <p:cNvSpPr/>
          <p:nvPr/>
        </p:nvSpPr>
        <p:spPr>
          <a:xfrm>
            <a:off x="707710" y="4411762"/>
            <a:ext cx="5749781" cy="264616"/>
          </a:xfrm>
          <a:prstGeom prst="rect">
            <a:avLst/>
          </a:prstGeom>
          <a:noFill/>
          <a:ln/>
        </p:spPr>
        <p:txBody>
          <a:bodyPr wrap="none" lIns="0" tIns="0" rIns="0" bIns="0" rtlCol="0" anchor="t"/>
          <a:lstStyle/>
          <a:p>
            <a:pPr marL="0" indent="0" algn="l">
              <a:lnSpc>
                <a:spcPct val="133000"/>
              </a:lnSpc>
              <a:buNone/>
            </a:pPr>
            <a:r>
              <a:rPr lang="en-US" sz="1300" b="1" dirty="0">
                <a:solidFill>
                  <a:srgbClr val="000000"/>
                </a:solidFill>
                <a:latin typeface="PT Sans Bold" pitchFamily="34" charset="0"/>
                <a:ea typeface="PT Sans Bold" pitchFamily="34" charset="-122"/>
                <a:cs typeface="PT Sans Bold" pitchFamily="34" charset="-120"/>
              </a:rPr>
              <a:t>Konklusi:</a:t>
            </a:r>
            <a:r>
              <a:rPr lang="en-US" sz="1300" dirty="0">
                <a:solidFill>
                  <a:srgbClr val="000000"/>
                </a:solidFill>
                <a:latin typeface="PT Sans" pitchFamily="34" charset="0"/>
                <a:ea typeface="PT Sans" pitchFamily="34" charset="-122"/>
                <a:cs typeface="PT Sans" pitchFamily="34" charset="-120"/>
              </a:rPr>
              <a:t> Matematika adalah pelajaran yang sulit</a:t>
            </a:r>
            <a:endParaRPr lang="en-US" sz="1300" dirty="0"/>
          </a:p>
        </p:txBody>
      </p:sp>
      <p:sp>
        <p:nvSpPr>
          <p:cNvPr id="7" name="Text 5"/>
          <p:cNvSpPr/>
          <p:nvPr/>
        </p:nvSpPr>
        <p:spPr>
          <a:xfrm>
            <a:off x="6303904" y="2929632"/>
            <a:ext cx="5232666" cy="258465"/>
          </a:xfrm>
          <a:prstGeom prst="rect">
            <a:avLst/>
          </a:prstGeom>
          <a:noFill/>
          <a:ln/>
        </p:spPr>
        <p:txBody>
          <a:bodyPr wrap="none" lIns="0" tIns="0" rIns="0" bIns="0" rtlCol="0" anchor="t"/>
          <a:lstStyle/>
          <a:p>
            <a:pPr marL="0" indent="0" algn="l">
              <a:lnSpc>
                <a:spcPct val="104000"/>
              </a:lnSpc>
              <a:buNone/>
            </a:pPr>
            <a:r>
              <a:rPr lang="en-US" sz="1600" b="1" dirty="0">
                <a:solidFill>
                  <a:srgbClr val="000000"/>
                </a:solidFill>
                <a:latin typeface="PT Sans Bold" pitchFamily="34" charset="0"/>
                <a:ea typeface="PT Sans Bold" pitchFamily="34" charset="-122"/>
                <a:cs typeface="PT Sans Bold" pitchFamily="34" charset="-120"/>
              </a:rPr>
              <a:t>Premis Baru Menggugurkan Konklusi</a:t>
            </a:r>
            <a:endParaRPr lang="en-US" sz="1600" dirty="0"/>
          </a:p>
        </p:txBody>
      </p:sp>
      <p:sp>
        <p:nvSpPr>
          <p:cNvPr id="8" name="Text 6"/>
          <p:cNvSpPr/>
          <p:nvPr/>
        </p:nvSpPr>
        <p:spPr>
          <a:xfrm>
            <a:off x="6303904" y="3353395"/>
            <a:ext cx="5232666" cy="1356122"/>
          </a:xfrm>
          <a:prstGeom prst="rect">
            <a:avLst/>
          </a:prstGeom>
          <a:noFill/>
          <a:ln/>
        </p:spPr>
        <p:txBody>
          <a:bodyPr wrap="square" lIns="0" tIns="0" rIns="0" bIns="0" rtlCol="0" anchor="t"/>
          <a:lstStyle/>
          <a:p>
            <a:pPr marL="0" indent="0" algn="l">
              <a:lnSpc>
                <a:spcPct val="133000"/>
              </a:lnSpc>
              <a:spcAft>
                <a:spcPts val="1150"/>
              </a:spcAft>
              <a:buNone/>
            </a:pPr>
            <a:r>
              <a:rPr lang="en-US" sz="1300" b="1" dirty="0">
                <a:solidFill>
                  <a:srgbClr val="000000"/>
                </a:solidFill>
                <a:latin typeface="PT Sans Bold" pitchFamily="34" charset="0"/>
                <a:ea typeface="PT Sans Bold" pitchFamily="34" charset="-122"/>
                <a:cs typeface="PT Sans Bold" pitchFamily="34" charset="-120"/>
              </a:rPr>
              <a:t>Premis 4:</a:t>
            </a:r>
            <a:r>
              <a:rPr lang="en-US" sz="1300" dirty="0">
                <a:solidFill>
                  <a:srgbClr val="000000"/>
                </a:solidFill>
                <a:latin typeface="PT Sans" pitchFamily="34" charset="0"/>
                <a:ea typeface="PT Sans" pitchFamily="34" charset="-122"/>
                <a:cs typeface="PT Sans" pitchFamily="34" charset="-120"/>
              </a:rPr>
              <a:t> Kinematika adalah pelajaran yang sulit.</a:t>
            </a:r>
            <a:endParaRPr lang="en-US" sz="1300" dirty="0"/>
          </a:p>
          <a:p>
            <a:pPr marL="0" indent="0" algn="l">
              <a:lnSpc>
                <a:spcPct val="133000"/>
              </a:lnSpc>
              <a:spcAft>
                <a:spcPts val="1150"/>
              </a:spcAft>
              <a:buNone/>
            </a:pPr>
            <a:r>
              <a:rPr lang="en-US" sz="1300" dirty="0">
                <a:solidFill>
                  <a:srgbClr val="000000"/>
                </a:solidFill>
                <a:latin typeface="PT Sans" pitchFamily="34" charset="0"/>
                <a:ea typeface="PT Sans" pitchFamily="34" charset="-122"/>
                <a:cs typeface="PT Sans" pitchFamily="34" charset="-120"/>
              </a:rPr>
              <a:t>Kinematika bukan bagian dari Matematika, sehingga konklusi </a:t>
            </a:r>
            <a:r>
              <a:rPr lang="en-US" sz="1300" i="1" dirty="0">
                <a:solidFill>
                  <a:srgbClr val="000000"/>
                </a:solidFill>
                <a:latin typeface="PT Sans" pitchFamily="34" charset="0"/>
                <a:ea typeface="PT Sans" pitchFamily="34" charset="-122"/>
                <a:cs typeface="PT Sans" pitchFamily="34" charset="-120"/>
              </a:rPr>
              <a:t>"Matematika adalah pelajaran yang sulit"</a:t>
            </a:r>
            <a:r>
              <a:rPr lang="en-US" sz="1300" dirty="0">
                <a:solidFill>
                  <a:srgbClr val="000000"/>
                </a:solidFill>
                <a:latin typeface="PT Sans" pitchFamily="34" charset="0"/>
                <a:ea typeface="PT Sans" pitchFamily="34" charset="-122"/>
                <a:cs typeface="PT Sans" pitchFamily="34" charset="-120"/>
              </a:rPr>
              <a:t> menjadi </a:t>
            </a:r>
            <a:r>
              <a:rPr lang="en-US" sz="1300" dirty="0">
                <a:solidFill>
                  <a:srgbClr val="F89B24"/>
                </a:solidFill>
                <a:latin typeface="PT Sans" pitchFamily="34" charset="0"/>
                <a:ea typeface="PT Sans" pitchFamily="34" charset="-122"/>
                <a:cs typeface="PT Sans" pitchFamily="34" charset="-120"/>
              </a:rPr>
              <a:t>tidak valid</a:t>
            </a:r>
            <a:r>
              <a:rPr lang="en-US" sz="1300" dirty="0">
                <a:solidFill>
                  <a:srgbClr val="000000"/>
                </a:solidFill>
                <a:latin typeface="PT Sans" pitchFamily="34" charset="0"/>
                <a:ea typeface="PT Sans" pitchFamily="34" charset="-122"/>
                <a:cs typeface="PT Sans" pitchFamily="34" charset="-120"/>
              </a:rPr>
              <a:t>.</a:t>
            </a:r>
            <a:endParaRPr lang="en-US" sz="1300" dirty="0"/>
          </a:p>
          <a:p>
            <a:pPr marL="0" indent="0" algn="l">
              <a:lnSpc>
                <a:spcPct val="133000"/>
              </a:lnSpc>
              <a:buNone/>
            </a:pPr>
            <a:r>
              <a:rPr lang="en-US" sz="1300" dirty="0">
                <a:solidFill>
                  <a:srgbClr val="000000"/>
                </a:solidFill>
                <a:latin typeface="PT Sans" pitchFamily="34" charset="0"/>
                <a:ea typeface="PT Sans" pitchFamily="34" charset="-122"/>
                <a:cs typeface="PT Sans" pitchFamily="34" charset="-120"/>
              </a:rPr>
              <a:t>Inilah mengapa penalaran induktif sangat rentan terhadap ketidakpastian.</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4571886" cy="6858000"/>
          </a:xfrm>
          <a:prstGeom prst="rect">
            <a:avLst/>
          </a:prstGeom>
        </p:spPr>
      </p:pic>
      <p:sp>
        <p:nvSpPr>
          <p:cNvPr id="3" name="Text 0"/>
          <p:cNvSpPr/>
          <p:nvPr/>
        </p:nvSpPr>
        <p:spPr>
          <a:xfrm>
            <a:off x="5233360" y="2517378"/>
            <a:ext cx="6296860" cy="516731"/>
          </a:xfrm>
          <a:prstGeom prst="rect">
            <a:avLst/>
          </a:prstGeom>
          <a:noFill/>
          <a:ln/>
        </p:spPr>
        <p:txBody>
          <a:bodyPr wrap="none" lIns="0" tIns="0" rIns="0" bIns="0" rtlCol="0" anchor="t"/>
          <a:lstStyle/>
          <a:p>
            <a:pPr marL="0" indent="0" algn="l">
              <a:lnSpc>
                <a:spcPct val="104000"/>
              </a:lnSpc>
              <a:buNone/>
            </a:pPr>
            <a:r>
              <a:rPr lang="en-US" sz="3250" b="1" dirty="0">
                <a:solidFill>
                  <a:srgbClr val="000000"/>
                </a:solidFill>
                <a:latin typeface="PT Sans Bold" pitchFamily="34" charset="0"/>
                <a:ea typeface="PT Sans Bold" pitchFamily="34" charset="-122"/>
                <a:cs typeface="PT Sans Bold" pitchFamily="34" charset="-120"/>
              </a:rPr>
              <a:t>Solusi: Penalaran Statistik</a:t>
            </a:r>
            <a:endParaRPr lang="en-US" sz="3250" dirty="0"/>
          </a:p>
        </p:txBody>
      </p:sp>
      <p:sp>
        <p:nvSpPr>
          <p:cNvPr id="4" name="Text 1"/>
          <p:cNvSpPr/>
          <p:nvPr/>
        </p:nvSpPr>
        <p:spPr>
          <a:xfrm>
            <a:off x="5233360" y="3282156"/>
            <a:ext cx="6296860" cy="1058466"/>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000000"/>
                </a:solidFill>
                <a:latin typeface="PT Sans" pitchFamily="34" charset="0"/>
                <a:ea typeface="PT Sans" pitchFamily="34" charset="-122"/>
                <a:cs typeface="PT Sans" pitchFamily="34" charset="-120"/>
              </a:rPr>
              <a:t>Untuk mengatasi ketidakpastian dalam penalaran AI, digunakan </a:t>
            </a:r>
            <a:r>
              <a:rPr lang="en-US" sz="1300" b="1" dirty="0">
                <a:solidFill>
                  <a:srgbClr val="F9D448"/>
                </a:solidFill>
                <a:latin typeface="PT Sans Bold" pitchFamily="34" charset="0"/>
                <a:ea typeface="PT Sans Bold" pitchFamily="34" charset="-122"/>
                <a:cs typeface="PT Sans Bold" pitchFamily="34" charset="-120"/>
              </a:rPr>
              <a:t>penalaran statistik</a:t>
            </a:r>
            <a:r>
              <a:rPr lang="en-US" sz="1300" dirty="0">
                <a:solidFill>
                  <a:srgbClr val="000000"/>
                </a:solidFill>
                <a:latin typeface="PT Sans" pitchFamily="34" charset="0"/>
                <a:ea typeface="PT Sans" pitchFamily="34" charset="-122"/>
                <a:cs typeface="PT Sans" pitchFamily="34" charset="-120"/>
              </a:rPr>
              <a:t>. Pendekatan ini memungkinkan sistem untuk tetap memberikan kesimpulan meskipun informasi tidak lengkap, dengan menyertakan ukuran kepercayaan (probabilitas) pada setiap kesimpulan.</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4571886" cy="6858000"/>
          </a:xfrm>
          <a:prstGeom prst="rect">
            <a:avLst/>
          </a:prstGeom>
        </p:spPr>
      </p:pic>
      <p:sp>
        <p:nvSpPr>
          <p:cNvPr id="3" name="Shape 0"/>
          <p:cNvSpPr/>
          <p:nvPr/>
        </p:nvSpPr>
        <p:spPr>
          <a:xfrm>
            <a:off x="5233360" y="2623245"/>
            <a:ext cx="537752" cy="251420"/>
          </a:xfrm>
          <a:prstGeom prst="roundRect">
            <a:avLst>
              <a:gd name="adj" fmla="val 22103"/>
            </a:avLst>
          </a:prstGeom>
          <a:solidFill>
            <a:srgbClr val="FDF3CE"/>
          </a:solidFill>
          <a:ln/>
        </p:spPr>
      </p:sp>
      <p:sp>
        <p:nvSpPr>
          <p:cNvPr id="4" name="Text 1"/>
          <p:cNvSpPr/>
          <p:nvPr/>
        </p:nvSpPr>
        <p:spPr>
          <a:xfrm>
            <a:off x="5332577" y="2672854"/>
            <a:ext cx="948904" cy="152202"/>
          </a:xfrm>
          <a:prstGeom prst="rect">
            <a:avLst/>
          </a:prstGeom>
          <a:noFill/>
          <a:ln/>
        </p:spPr>
        <p:txBody>
          <a:bodyPr wrap="none" lIns="0" tIns="0" rIns="0" bIns="0" rtlCol="0" anchor="t"/>
          <a:lstStyle/>
          <a:p>
            <a:pPr marL="0" indent="0" algn="l">
              <a:lnSpc>
                <a:spcPct val="96000"/>
              </a:lnSpc>
              <a:buNone/>
            </a:pPr>
            <a:r>
              <a:rPr lang="en-US" sz="1000" dirty="0">
                <a:solidFill>
                  <a:srgbClr val="000000"/>
                </a:solidFill>
                <a:latin typeface="PT Sans" pitchFamily="34" charset="0"/>
                <a:ea typeface="PT Sans" pitchFamily="34" charset="-122"/>
                <a:cs typeface="PT Sans" pitchFamily="34" charset="-120"/>
              </a:rPr>
              <a:t>BAB 1</a:t>
            </a:r>
            <a:endParaRPr lang="en-US" sz="1000" dirty="0"/>
          </a:p>
        </p:txBody>
      </p:sp>
      <p:sp>
        <p:nvSpPr>
          <p:cNvPr id="5" name="Text 2"/>
          <p:cNvSpPr/>
          <p:nvPr/>
        </p:nvSpPr>
        <p:spPr>
          <a:xfrm>
            <a:off x="5233360" y="2940745"/>
            <a:ext cx="6296860" cy="516731"/>
          </a:xfrm>
          <a:prstGeom prst="rect">
            <a:avLst/>
          </a:prstGeom>
          <a:noFill/>
          <a:ln/>
        </p:spPr>
        <p:txBody>
          <a:bodyPr wrap="none" lIns="0" tIns="0" rIns="0" bIns="0" rtlCol="0" anchor="t"/>
          <a:lstStyle/>
          <a:p>
            <a:pPr marL="0" indent="0" algn="l">
              <a:lnSpc>
                <a:spcPct val="104000"/>
              </a:lnSpc>
              <a:buNone/>
            </a:pPr>
            <a:r>
              <a:rPr lang="en-US" sz="3250" b="1" dirty="0">
                <a:solidFill>
                  <a:srgbClr val="000000"/>
                </a:solidFill>
                <a:latin typeface="PT Sans Bold" pitchFamily="34" charset="0"/>
                <a:ea typeface="PT Sans Bold" pitchFamily="34" charset="-122"/>
                <a:cs typeface="PT Sans Bold" pitchFamily="34" charset="-120"/>
              </a:rPr>
              <a:t>Probabilitas</a:t>
            </a:r>
            <a:endParaRPr lang="en-US" sz="3250" dirty="0"/>
          </a:p>
        </p:txBody>
      </p:sp>
      <p:sp>
        <p:nvSpPr>
          <p:cNvPr id="6" name="Text 3"/>
          <p:cNvSpPr/>
          <p:nvPr/>
        </p:nvSpPr>
        <p:spPr>
          <a:xfrm>
            <a:off x="5233360" y="3705523"/>
            <a:ext cx="6296860"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000000"/>
                </a:solidFill>
                <a:latin typeface="PT Sans" pitchFamily="34" charset="0"/>
                <a:ea typeface="PT Sans" pitchFamily="34" charset="-122"/>
                <a:cs typeface="PT Sans" pitchFamily="34" charset="-120"/>
              </a:rPr>
              <a:t>Probabilitas adalah fondasi penalaran statistik dalam AI — mengukur seberapa mungkin suatu kejadian terjadi.</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1475" y="2079625"/>
            <a:ext cx="10868745" cy="516731"/>
          </a:xfrm>
          <a:prstGeom prst="rect">
            <a:avLst/>
          </a:prstGeom>
          <a:noFill/>
          <a:ln/>
        </p:spPr>
        <p:txBody>
          <a:bodyPr wrap="none" lIns="0" tIns="0" rIns="0" bIns="0" rtlCol="0" anchor="t"/>
          <a:lstStyle/>
          <a:p>
            <a:pPr marL="0" indent="0" algn="l">
              <a:lnSpc>
                <a:spcPct val="104000"/>
              </a:lnSpc>
              <a:buNone/>
            </a:pPr>
            <a:r>
              <a:rPr lang="en-US" sz="3250" b="1" dirty="0">
                <a:solidFill>
                  <a:srgbClr val="000000"/>
                </a:solidFill>
                <a:latin typeface="PT Sans Bold" pitchFamily="34" charset="0"/>
                <a:ea typeface="PT Sans Bold" pitchFamily="34" charset="-122"/>
                <a:cs typeface="PT Sans Bold" pitchFamily="34" charset="-120"/>
              </a:rPr>
              <a:t>Definisi Probabilitas</a:t>
            </a:r>
            <a:endParaRPr lang="en-US" sz="3250" dirty="0"/>
          </a:p>
        </p:txBody>
      </p:sp>
      <p:sp>
        <p:nvSpPr>
          <p:cNvPr id="3" name="Text 1"/>
          <p:cNvSpPr/>
          <p:nvPr/>
        </p:nvSpPr>
        <p:spPr>
          <a:xfrm>
            <a:off x="661475" y="2927052"/>
            <a:ext cx="11478330" cy="264616"/>
          </a:xfrm>
          <a:prstGeom prst="rect">
            <a:avLst/>
          </a:prstGeom>
          <a:noFill/>
          <a:ln/>
        </p:spPr>
        <p:txBody>
          <a:bodyPr wrap="none" lIns="0" tIns="0" rIns="0" bIns="0" rtlCol="0" anchor="t"/>
          <a:lstStyle/>
          <a:p>
            <a:pPr marL="0" indent="0" algn="l">
              <a:lnSpc>
                <a:spcPct val="133000"/>
              </a:lnSpc>
              <a:buNone/>
            </a:pPr>
            <a:r>
              <a:rPr lang="en-US" sz="1300" dirty="0">
                <a:solidFill>
                  <a:srgbClr val="000000"/>
                </a:solidFill>
                <a:latin typeface="PT Sans" pitchFamily="34" charset="0"/>
                <a:ea typeface="PT Sans" pitchFamily="34" charset="-122"/>
                <a:cs typeface="PT Sans" pitchFamily="34" charset="-120"/>
              </a:rPr>
              <a:t>Probabilitas menunjukkan kemungkinan sesuatu akan terjadi atau tidak. Nilainya berkisar antara 0 (tidak mungkin) hingga 1 (pasti terjadi).</a:t>
            </a:r>
            <a:endParaRPr lang="en-US" sz="1300" dirty="0"/>
          </a:p>
        </p:txBody>
      </p:sp>
      <p:pic>
        <p:nvPicPr>
          <p:cNvPr id="4" name="Image 0" descr="preencoded.png"/>
          <p:cNvPicPr>
            <a:picLocks noChangeAspect="1"/>
          </p:cNvPicPr>
          <p:nvPr/>
        </p:nvPicPr>
        <p:blipFill>
          <a:blip r:embed="rId3"/>
          <a:stretch>
            <a:fillRect/>
          </a:stretch>
        </p:blipFill>
        <p:spPr>
          <a:xfrm>
            <a:off x="661475" y="3400921"/>
            <a:ext cx="10868745" cy="506909"/>
          </a:xfrm>
          <a:prstGeom prst="rect">
            <a:avLst/>
          </a:prstGeom>
        </p:spPr>
      </p:pic>
      <p:sp>
        <p:nvSpPr>
          <p:cNvPr id="5" name="Shape 2"/>
          <p:cNvSpPr/>
          <p:nvPr/>
        </p:nvSpPr>
        <p:spPr>
          <a:xfrm>
            <a:off x="661475" y="4117082"/>
            <a:ext cx="10868745" cy="661293"/>
          </a:xfrm>
          <a:prstGeom prst="roundRect">
            <a:avLst>
              <a:gd name="adj" fmla="val 10504"/>
            </a:avLst>
          </a:prstGeom>
          <a:solidFill>
            <a:srgbClr val="FDF3CE"/>
          </a:solidFill>
          <a:ln/>
        </p:spPr>
      </p:sp>
      <p:pic>
        <p:nvPicPr>
          <p:cNvPr id="6" name="Image 1" descr="preencoded.png"/>
          <p:cNvPicPr>
            <a:picLocks noChangeAspect="1"/>
          </p:cNvPicPr>
          <p:nvPr/>
        </p:nvPicPr>
        <p:blipFill>
          <a:blip r:embed="rId4"/>
          <a:stretch>
            <a:fillRect/>
          </a:stretch>
        </p:blipFill>
        <p:spPr>
          <a:xfrm>
            <a:off x="826769" y="4356795"/>
            <a:ext cx="206667" cy="165298"/>
          </a:xfrm>
          <a:prstGeom prst="rect">
            <a:avLst/>
          </a:prstGeom>
        </p:spPr>
      </p:pic>
      <p:sp>
        <p:nvSpPr>
          <p:cNvPr id="7" name="Text 3"/>
          <p:cNvSpPr/>
          <p:nvPr/>
        </p:nvSpPr>
        <p:spPr>
          <a:xfrm>
            <a:off x="1198731" y="4323655"/>
            <a:ext cx="10775780" cy="264616"/>
          </a:xfrm>
          <a:prstGeom prst="rect">
            <a:avLst/>
          </a:prstGeom>
          <a:noFill/>
          <a:ln/>
        </p:spPr>
        <p:txBody>
          <a:bodyPr wrap="none" lIns="0" tIns="0" rIns="0" bIns="0" rtlCol="0" anchor="t"/>
          <a:lstStyle/>
          <a:p>
            <a:pPr marL="0" indent="0" algn="l">
              <a:lnSpc>
                <a:spcPct val="133000"/>
              </a:lnSpc>
              <a:buNone/>
            </a:pPr>
            <a:r>
              <a:rPr lang="en-US" sz="1300" dirty="0">
                <a:solidFill>
                  <a:srgbClr val="000000"/>
                </a:solidFill>
                <a:latin typeface="PT Sans" pitchFamily="34" charset="0"/>
                <a:ea typeface="PT Sans" pitchFamily="34" charset="-122"/>
                <a:cs typeface="PT Sans" pitchFamily="34" charset="-120"/>
              </a:rPr>
              <a:t>Contoh: Dari 10 orang sarjana, 3 orang menguasai Cisco. Maka peluang memilih sarjana yang menguasai Cisco adalah: </a:t>
            </a:r>
            <a:r>
              <a:rPr lang="en-US" sz="1300" b="1" dirty="0">
                <a:solidFill>
                  <a:srgbClr val="000000"/>
                </a:solidFill>
                <a:latin typeface="PT Sans Bold" pitchFamily="34" charset="0"/>
                <a:ea typeface="PT Sans Bold" pitchFamily="34" charset="-122"/>
                <a:cs typeface="PT Sans Bold" pitchFamily="34" charset="-120"/>
              </a:rPr>
              <a:t>p(cisco) = 3/10 = 0.3</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4571886" cy="6858000"/>
          </a:xfrm>
          <a:prstGeom prst="rect">
            <a:avLst/>
          </a:prstGeom>
        </p:spPr>
      </p:pic>
      <p:sp>
        <p:nvSpPr>
          <p:cNvPr id="3" name="Text 0"/>
          <p:cNvSpPr/>
          <p:nvPr/>
        </p:nvSpPr>
        <p:spPr>
          <a:xfrm>
            <a:off x="5233360" y="2517378"/>
            <a:ext cx="6296860" cy="516731"/>
          </a:xfrm>
          <a:prstGeom prst="rect">
            <a:avLst/>
          </a:prstGeom>
          <a:noFill/>
          <a:ln/>
        </p:spPr>
        <p:txBody>
          <a:bodyPr wrap="none" lIns="0" tIns="0" rIns="0" bIns="0" rtlCol="0" anchor="t"/>
          <a:lstStyle/>
          <a:p>
            <a:pPr marL="0" indent="0" algn="l">
              <a:lnSpc>
                <a:spcPct val="104000"/>
              </a:lnSpc>
              <a:buNone/>
            </a:pPr>
            <a:r>
              <a:rPr lang="en-US" sz="3250" b="1" dirty="0">
                <a:solidFill>
                  <a:srgbClr val="000000"/>
                </a:solidFill>
                <a:latin typeface="PT Sans Bold" pitchFamily="34" charset="0"/>
                <a:ea typeface="PT Sans Bold" pitchFamily="34" charset="-122"/>
                <a:cs typeface="PT Sans Bold" pitchFamily="34" charset="-120"/>
              </a:rPr>
              <a:t>Analogi Probabilitas Sehari-hari</a:t>
            </a:r>
            <a:endParaRPr lang="en-US" sz="3250" dirty="0"/>
          </a:p>
        </p:txBody>
      </p:sp>
      <p:sp>
        <p:nvSpPr>
          <p:cNvPr id="4" name="Text 1"/>
          <p:cNvSpPr/>
          <p:nvPr/>
        </p:nvSpPr>
        <p:spPr>
          <a:xfrm>
            <a:off x="5233360" y="3282156"/>
            <a:ext cx="6296860" cy="1058466"/>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000000"/>
                </a:solidFill>
                <a:latin typeface="PT Sans" pitchFamily="34" charset="0"/>
                <a:ea typeface="PT Sans" pitchFamily="34" charset="-122"/>
                <a:cs typeface="PT Sans" pitchFamily="34" charset="-120"/>
              </a:rPr>
              <a:t>Bayangkan Anda melempar koin. Ada 2 kemungkinan: </a:t>
            </a:r>
            <a:r>
              <a:rPr lang="en-US" sz="1300" b="1" dirty="0">
                <a:solidFill>
                  <a:srgbClr val="000000"/>
                </a:solidFill>
                <a:latin typeface="PT Sans Bold" pitchFamily="34" charset="0"/>
                <a:ea typeface="PT Sans Bold" pitchFamily="34" charset="-122"/>
                <a:cs typeface="PT Sans Bold" pitchFamily="34" charset="-120"/>
              </a:rPr>
              <a:t>kepala</a:t>
            </a:r>
            <a:r>
              <a:rPr lang="en-US" sz="1300" dirty="0">
                <a:solidFill>
                  <a:srgbClr val="000000"/>
                </a:solidFill>
                <a:latin typeface="PT Sans" pitchFamily="34" charset="0"/>
                <a:ea typeface="PT Sans" pitchFamily="34" charset="-122"/>
                <a:cs typeface="PT Sans" pitchFamily="34" charset="-120"/>
              </a:rPr>
              <a:t> atau </a:t>
            </a:r>
            <a:r>
              <a:rPr lang="en-US" sz="1300" b="1" dirty="0">
                <a:solidFill>
                  <a:srgbClr val="000000"/>
                </a:solidFill>
                <a:latin typeface="PT Sans Bold" pitchFamily="34" charset="0"/>
                <a:ea typeface="PT Sans Bold" pitchFamily="34" charset="-122"/>
                <a:cs typeface="PT Sans Bold" pitchFamily="34" charset="-120"/>
              </a:rPr>
              <a:t>ekor</a:t>
            </a:r>
            <a:r>
              <a:rPr lang="en-US" sz="1300" dirty="0">
                <a:solidFill>
                  <a:srgbClr val="000000"/>
                </a:solidFill>
                <a:latin typeface="PT Sans" pitchFamily="34" charset="0"/>
                <a:ea typeface="PT Sans" pitchFamily="34" charset="-122"/>
                <a:cs typeface="PT Sans" pitchFamily="34" charset="-120"/>
              </a:rPr>
              <a:t>. Peluang munculnya kepala adalah 1/2 = 0.5. Jika dari 10 kali lemparan, 6 kali muncul kepala, maka probabilitas empirisnya adalah 6/10 = 0.6. Inilah cara probabilitas bekerja dalam kehidupan nyata.</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619809" y="0"/>
            <a:ext cx="4571886" cy="6858000"/>
          </a:xfrm>
          <a:prstGeom prst="rect">
            <a:avLst/>
          </a:prstGeom>
        </p:spPr>
      </p:pic>
      <p:sp>
        <p:nvSpPr>
          <p:cNvPr id="3" name="Shape 0"/>
          <p:cNvSpPr/>
          <p:nvPr/>
        </p:nvSpPr>
        <p:spPr>
          <a:xfrm>
            <a:off x="661475" y="2623245"/>
            <a:ext cx="537752" cy="251420"/>
          </a:xfrm>
          <a:prstGeom prst="roundRect">
            <a:avLst>
              <a:gd name="adj" fmla="val 22103"/>
            </a:avLst>
          </a:prstGeom>
          <a:solidFill>
            <a:srgbClr val="FDF3CE"/>
          </a:solidFill>
          <a:ln/>
        </p:spPr>
      </p:sp>
      <p:sp>
        <p:nvSpPr>
          <p:cNvPr id="4" name="Text 1"/>
          <p:cNvSpPr/>
          <p:nvPr/>
        </p:nvSpPr>
        <p:spPr>
          <a:xfrm>
            <a:off x="760691" y="2672854"/>
            <a:ext cx="948904" cy="152202"/>
          </a:xfrm>
          <a:prstGeom prst="rect">
            <a:avLst/>
          </a:prstGeom>
          <a:noFill/>
          <a:ln/>
        </p:spPr>
        <p:txBody>
          <a:bodyPr wrap="none" lIns="0" tIns="0" rIns="0" bIns="0" rtlCol="0" anchor="t"/>
          <a:lstStyle/>
          <a:p>
            <a:pPr marL="0" indent="0" algn="l">
              <a:lnSpc>
                <a:spcPct val="96000"/>
              </a:lnSpc>
              <a:buNone/>
            </a:pPr>
            <a:r>
              <a:rPr lang="en-US" sz="1000" dirty="0">
                <a:solidFill>
                  <a:srgbClr val="000000"/>
                </a:solidFill>
                <a:latin typeface="PT Sans" pitchFamily="34" charset="0"/>
                <a:ea typeface="PT Sans" pitchFamily="34" charset="-122"/>
                <a:cs typeface="PT Sans" pitchFamily="34" charset="-120"/>
              </a:rPr>
              <a:t>BAB 2</a:t>
            </a:r>
            <a:endParaRPr lang="en-US" sz="1000" dirty="0"/>
          </a:p>
        </p:txBody>
      </p:sp>
      <p:sp>
        <p:nvSpPr>
          <p:cNvPr id="5" name="Text 2"/>
          <p:cNvSpPr/>
          <p:nvPr/>
        </p:nvSpPr>
        <p:spPr>
          <a:xfrm>
            <a:off x="661475" y="2940745"/>
            <a:ext cx="6296860" cy="516731"/>
          </a:xfrm>
          <a:prstGeom prst="rect">
            <a:avLst/>
          </a:prstGeom>
          <a:noFill/>
          <a:ln/>
        </p:spPr>
        <p:txBody>
          <a:bodyPr wrap="none" lIns="0" tIns="0" rIns="0" bIns="0" rtlCol="0" anchor="t"/>
          <a:lstStyle/>
          <a:p>
            <a:pPr marL="0" indent="0" algn="l">
              <a:lnSpc>
                <a:spcPct val="104000"/>
              </a:lnSpc>
              <a:buNone/>
            </a:pPr>
            <a:r>
              <a:rPr lang="en-US" sz="3250" b="1" dirty="0">
                <a:solidFill>
                  <a:srgbClr val="000000"/>
                </a:solidFill>
                <a:latin typeface="PT Sans Bold" pitchFamily="34" charset="0"/>
                <a:ea typeface="PT Sans Bold" pitchFamily="34" charset="-122"/>
                <a:cs typeface="PT Sans Bold" pitchFamily="34" charset="-120"/>
              </a:rPr>
              <a:t>Teorema Bayes</a:t>
            </a:r>
            <a:endParaRPr lang="en-US" sz="3250" dirty="0"/>
          </a:p>
        </p:txBody>
      </p:sp>
      <p:sp>
        <p:nvSpPr>
          <p:cNvPr id="6" name="Text 3"/>
          <p:cNvSpPr/>
          <p:nvPr/>
        </p:nvSpPr>
        <p:spPr>
          <a:xfrm>
            <a:off x="661475" y="3705523"/>
            <a:ext cx="6296860"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000000"/>
                </a:solidFill>
                <a:latin typeface="PT Sans" pitchFamily="34" charset="0"/>
                <a:ea typeface="PT Sans" pitchFamily="34" charset="-122"/>
                <a:cs typeface="PT Sans" pitchFamily="34" charset="-120"/>
              </a:rPr>
              <a:t>Teorema Bayes memungkinkan kita memperbarui probabilitas suatu hipotesis berdasarkan bukti (evidence) baru yang ditemukan.</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61475" y="1860153"/>
            <a:ext cx="10868745" cy="516731"/>
          </a:xfrm>
          <a:prstGeom prst="rect">
            <a:avLst/>
          </a:prstGeom>
          <a:noFill/>
          <a:ln/>
        </p:spPr>
        <p:txBody>
          <a:bodyPr wrap="none" lIns="0" tIns="0" rIns="0" bIns="0" rtlCol="0" anchor="t"/>
          <a:lstStyle/>
          <a:p>
            <a:pPr marL="0" indent="0" algn="l">
              <a:lnSpc>
                <a:spcPct val="104000"/>
              </a:lnSpc>
              <a:buNone/>
            </a:pPr>
            <a:r>
              <a:rPr lang="en-US" sz="3250" b="1" dirty="0">
                <a:solidFill>
                  <a:srgbClr val="000000"/>
                </a:solidFill>
                <a:latin typeface="PT Sans Bold" pitchFamily="34" charset="0"/>
                <a:ea typeface="PT Sans Bold" pitchFamily="34" charset="-122"/>
                <a:cs typeface="PT Sans Bold" pitchFamily="34" charset="-120"/>
              </a:rPr>
              <a:t>Formula Teorema Bayes</a:t>
            </a:r>
            <a:endParaRPr lang="en-US" sz="3250" dirty="0"/>
          </a:p>
        </p:txBody>
      </p:sp>
      <p:pic>
        <p:nvPicPr>
          <p:cNvPr id="3" name="Image 0" descr="preencoded.png"/>
          <p:cNvPicPr>
            <a:picLocks noChangeAspect="1"/>
          </p:cNvPicPr>
          <p:nvPr/>
        </p:nvPicPr>
        <p:blipFill>
          <a:blip r:embed="rId3"/>
          <a:stretch>
            <a:fillRect/>
          </a:stretch>
        </p:blipFill>
        <p:spPr>
          <a:xfrm>
            <a:off x="661475" y="2707580"/>
            <a:ext cx="10868745" cy="545009"/>
          </a:xfrm>
          <a:prstGeom prst="rect">
            <a:avLst/>
          </a:prstGeom>
        </p:spPr>
      </p:pic>
      <p:sp>
        <p:nvSpPr>
          <p:cNvPr id="4" name="Shape 1"/>
          <p:cNvSpPr/>
          <p:nvPr/>
        </p:nvSpPr>
        <p:spPr>
          <a:xfrm>
            <a:off x="661475" y="3461841"/>
            <a:ext cx="2593216" cy="1535906"/>
          </a:xfrm>
          <a:prstGeom prst="roundRect">
            <a:avLst>
              <a:gd name="adj" fmla="val 4523"/>
            </a:avLst>
          </a:prstGeom>
          <a:solidFill>
            <a:srgbClr val="FFFFFF"/>
          </a:solidFill>
          <a:ln w="19050">
            <a:solidFill>
              <a:srgbClr val="E3D9B4"/>
            </a:solidFill>
            <a:prstDash val="solid"/>
          </a:ln>
        </p:spPr>
      </p:sp>
      <p:sp>
        <p:nvSpPr>
          <p:cNvPr id="5" name="Text 2"/>
          <p:cNvSpPr/>
          <p:nvPr/>
        </p:nvSpPr>
        <p:spPr>
          <a:xfrm>
            <a:off x="845819" y="3646190"/>
            <a:ext cx="2224528" cy="274141"/>
          </a:xfrm>
          <a:prstGeom prst="rect">
            <a:avLst/>
          </a:prstGeom>
          <a:noFill/>
          <a:ln/>
        </p:spPr>
        <p:txBody>
          <a:bodyPr wrap="none" lIns="0" tIns="0" rIns="0" bIns="0" rtlCol="0" anchor="t"/>
          <a:lstStyle/>
          <a:p>
            <a:pPr marL="0" indent="0" algn="l">
              <a:lnSpc>
                <a:spcPct val="104000"/>
              </a:lnSpc>
              <a:buNone/>
            </a:pPr>
            <a:r>
              <a:rPr lang="en-US" sz="1600" b="1" i="1" dirty="0">
                <a:solidFill>
                  <a:srgbClr val="000000"/>
                </a:solidFill>
                <a:latin typeface="PT Sans Bold" pitchFamily="34" charset="0"/>
                <a:ea typeface="PT Sans Bold" pitchFamily="34" charset="-122"/>
                <a:cs typeface="PT Sans Bold" pitchFamily="34" charset="-120"/>
              </a:rPr>
              <a:t>    </a:t>
            </a:r>
            <a:endParaRPr lang="en-US" sz="1600" dirty="0"/>
          </a:p>
        </p:txBody>
      </p:sp>
      <p:pic>
        <p:nvPicPr>
          <p:cNvPr id="6" name="Image 1" descr="preencoded.png"/>
          <p:cNvPicPr>
            <a:picLocks noChangeAspect="1"/>
          </p:cNvPicPr>
          <p:nvPr/>
        </p:nvPicPr>
        <p:blipFill>
          <a:blip r:embed="rId4"/>
          <a:stretch>
            <a:fillRect/>
          </a:stretch>
        </p:blipFill>
        <p:spPr>
          <a:xfrm>
            <a:off x="845819" y="3665240"/>
            <a:ext cx="702253" cy="255091"/>
          </a:xfrm>
          <a:prstGeom prst="rect">
            <a:avLst/>
          </a:prstGeom>
        </p:spPr>
      </p:pic>
      <p:sp>
        <p:nvSpPr>
          <p:cNvPr id="7" name="Text 3"/>
          <p:cNvSpPr/>
          <p:nvPr/>
        </p:nvSpPr>
        <p:spPr>
          <a:xfrm>
            <a:off x="845819" y="4019550"/>
            <a:ext cx="2224528"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000000"/>
                </a:solidFill>
                <a:latin typeface="PT Sans" pitchFamily="34" charset="0"/>
                <a:ea typeface="PT Sans" pitchFamily="34" charset="-122"/>
                <a:cs typeface="PT Sans" pitchFamily="34" charset="-120"/>
              </a:rPr>
              <a:t>Probabilitas hipotesis </a:t>
            </a:r>
            <a:r>
              <a:rPr lang="en-US" sz="1300" i="1" dirty="0">
                <a:solidFill>
                  <a:srgbClr val="000000"/>
                </a:solidFill>
                <a:latin typeface="PT Sans" pitchFamily="34" charset="0"/>
                <a:ea typeface="PT Sans" pitchFamily="34" charset="-122"/>
                <a:cs typeface="PT Sans" pitchFamily="34" charset="-120"/>
              </a:rPr>
              <a:t>  </a:t>
            </a:r>
            <a:r>
              <a:rPr lang="en-US" sz="1300" dirty="0">
                <a:solidFill>
                  <a:srgbClr val="000000"/>
                </a:solidFill>
                <a:latin typeface="PT Sans" pitchFamily="34" charset="0"/>
                <a:ea typeface="PT Sans" pitchFamily="34" charset="-122"/>
                <a:cs typeface="PT Sans" pitchFamily="34" charset="-120"/>
              </a:rPr>
              <a:t> benar jika diberikan evidence </a:t>
            </a:r>
            <a:r>
              <a:rPr lang="en-US" sz="1300" i="1" dirty="0">
                <a:solidFill>
                  <a:srgbClr val="000000"/>
                </a:solidFill>
                <a:latin typeface="PT Sans" pitchFamily="34" charset="0"/>
                <a:ea typeface="PT Sans" pitchFamily="34" charset="-122"/>
                <a:cs typeface="PT Sans" pitchFamily="34" charset="-120"/>
              </a:rPr>
              <a:t> </a:t>
            </a:r>
            <a:endParaRPr lang="en-US" sz="1300" dirty="0"/>
          </a:p>
        </p:txBody>
      </p:sp>
      <p:pic>
        <p:nvPicPr>
          <p:cNvPr id="8" name="Image 2" descr="preencoded.png"/>
          <p:cNvPicPr>
            <a:picLocks noChangeAspect="1"/>
          </p:cNvPicPr>
          <p:nvPr/>
        </p:nvPicPr>
        <p:blipFill>
          <a:blip r:embed="rId5"/>
          <a:stretch>
            <a:fillRect/>
          </a:stretch>
        </p:blipFill>
        <p:spPr>
          <a:xfrm>
            <a:off x="2404903" y="4057650"/>
            <a:ext cx="181268" cy="213618"/>
          </a:xfrm>
          <a:prstGeom prst="rect">
            <a:avLst/>
          </a:prstGeom>
        </p:spPr>
      </p:pic>
      <p:pic>
        <p:nvPicPr>
          <p:cNvPr id="9" name="Image 3" descr="preencoded.png"/>
          <p:cNvPicPr>
            <a:picLocks noChangeAspect="1"/>
          </p:cNvPicPr>
          <p:nvPr/>
        </p:nvPicPr>
        <p:blipFill>
          <a:blip r:embed="rId6"/>
          <a:stretch>
            <a:fillRect/>
          </a:stretch>
        </p:blipFill>
        <p:spPr>
          <a:xfrm>
            <a:off x="2508683" y="4322266"/>
            <a:ext cx="128485" cy="213618"/>
          </a:xfrm>
          <a:prstGeom prst="rect">
            <a:avLst/>
          </a:prstGeom>
        </p:spPr>
      </p:pic>
      <p:sp>
        <p:nvSpPr>
          <p:cNvPr id="10" name="Shape 4"/>
          <p:cNvSpPr/>
          <p:nvPr/>
        </p:nvSpPr>
        <p:spPr>
          <a:xfrm>
            <a:off x="3419985" y="3461841"/>
            <a:ext cx="2593216" cy="1535906"/>
          </a:xfrm>
          <a:prstGeom prst="roundRect">
            <a:avLst>
              <a:gd name="adj" fmla="val 4523"/>
            </a:avLst>
          </a:prstGeom>
          <a:solidFill>
            <a:srgbClr val="FFFFFF"/>
          </a:solidFill>
          <a:ln w="19050">
            <a:solidFill>
              <a:srgbClr val="E3D9B4"/>
            </a:solidFill>
            <a:prstDash val="solid"/>
          </a:ln>
        </p:spPr>
      </p:sp>
      <p:sp>
        <p:nvSpPr>
          <p:cNvPr id="11" name="Text 5"/>
          <p:cNvSpPr/>
          <p:nvPr/>
        </p:nvSpPr>
        <p:spPr>
          <a:xfrm>
            <a:off x="3604329" y="3646190"/>
            <a:ext cx="2224528" cy="274141"/>
          </a:xfrm>
          <a:prstGeom prst="rect">
            <a:avLst/>
          </a:prstGeom>
          <a:noFill/>
          <a:ln/>
        </p:spPr>
        <p:txBody>
          <a:bodyPr wrap="none" lIns="0" tIns="0" rIns="0" bIns="0" rtlCol="0" anchor="t"/>
          <a:lstStyle/>
          <a:p>
            <a:pPr marL="0" indent="0" algn="l">
              <a:lnSpc>
                <a:spcPct val="104000"/>
              </a:lnSpc>
              <a:buNone/>
            </a:pPr>
            <a:r>
              <a:rPr lang="en-US" sz="1600" b="1" i="1" dirty="0">
                <a:solidFill>
                  <a:srgbClr val="000000"/>
                </a:solidFill>
                <a:latin typeface="PT Sans Bold" pitchFamily="34" charset="0"/>
                <a:ea typeface="PT Sans Bold" pitchFamily="34" charset="-122"/>
                <a:cs typeface="PT Sans Bold" pitchFamily="34" charset="-120"/>
              </a:rPr>
              <a:t>    </a:t>
            </a:r>
            <a:endParaRPr lang="en-US" sz="1600" dirty="0"/>
          </a:p>
        </p:txBody>
      </p:sp>
      <p:pic>
        <p:nvPicPr>
          <p:cNvPr id="12" name="Image 4" descr="preencoded.png"/>
          <p:cNvPicPr>
            <a:picLocks noChangeAspect="1"/>
          </p:cNvPicPr>
          <p:nvPr/>
        </p:nvPicPr>
        <p:blipFill>
          <a:blip r:embed="rId7"/>
          <a:stretch>
            <a:fillRect/>
          </a:stretch>
        </p:blipFill>
        <p:spPr>
          <a:xfrm>
            <a:off x="3604329" y="3665240"/>
            <a:ext cx="702253" cy="255091"/>
          </a:xfrm>
          <a:prstGeom prst="rect">
            <a:avLst/>
          </a:prstGeom>
        </p:spPr>
      </p:pic>
      <p:sp>
        <p:nvSpPr>
          <p:cNvPr id="13" name="Text 6"/>
          <p:cNvSpPr/>
          <p:nvPr/>
        </p:nvSpPr>
        <p:spPr>
          <a:xfrm>
            <a:off x="3604329" y="4019550"/>
            <a:ext cx="2224528" cy="793849"/>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000000"/>
                </a:solidFill>
                <a:latin typeface="PT Sans" pitchFamily="34" charset="0"/>
                <a:ea typeface="PT Sans" pitchFamily="34" charset="-122"/>
                <a:cs typeface="PT Sans" pitchFamily="34" charset="-120"/>
              </a:rPr>
              <a:t>Probabilitas munculnya evidence </a:t>
            </a:r>
            <a:r>
              <a:rPr lang="en-US" sz="1300" i="1" dirty="0">
                <a:solidFill>
                  <a:srgbClr val="000000"/>
                </a:solidFill>
                <a:latin typeface="PT Sans" pitchFamily="34" charset="0"/>
                <a:ea typeface="PT Sans" pitchFamily="34" charset="-122"/>
                <a:cs typeface="PT Sans" pitchFamily="34" charset="-120"/>
              </a:rPr>
              <a:t> </a:t>
            </a:r>
            <a:r>
              <a:rPr lang="en-US" sz="1300" dirty="0">
                <a:solidFill>
                  <a:srgbClr val="000000"/>
                </a:solidFill>
                <a:latin typeface="PT Sans" pitchFamily="34" charset="0"/>
                <a:ea typeface="PT Sans" pitchFamily="34" charset="-122"/>
                <a:cs typeface="PT Sans" pitchFamily="34" charset="-120"/>
              </a:rPr>
              <a:t> jika hipotesis </a:t>
            </a:r>
            <a:r>
              <a:rPr lang="en-US" sz="1300" i="1" dirty="0">
                <a:solidFill>
                  <a:srgbClr val="000000"/>
                </a:solidFill>
                <a:latin typeface="PT Sans" pitchFamily="34" charset="0"/>
                <a:ea typeface="PT Sans" pitchFamily="34" charset="-122"/>
                <a:cs typeface="PT Sans" pitchFamily="34" charset="-120"/>
              </a:rPr>
              <a:t>  </a:t>
            </a:r>
            <a:r>
              <a:rPr lang="en-US" sz="1300" dirty="0">
                <a:solidFill>
                  <a:srgbClr val="000000"/>
                </a:solidFill>
                <a:latin typeface="PT Sans" pitchFamily="34" charset="0"/>
                <a:ea typeface="PT Sans" pitchFamily="34" charset="-122"/>
                <a:cs typeface="PT Sans" pitchFamily="34" charset="-120"/>
              </a:rPr>
              <a:t> benar</a:t>
            </a:r>
            <a:endParaRPr lang="en-US" sz="1300" dirty="0"/>
          </a:p>
        </p:txBody>
      </p:sp>
      <p:pic>
        <p:nvPicPr>
          <p:cNvPr id="14" name="Image 5" descr="preencoded.png"/>
          <p:cNvPicPr>
            <a:picLocks noChangeAspect="1"/>
          </p:cNvPicPr>
          <p:nvPr/>
        </p:nvPicPr>
        <p:blipFill>
          <a:blip r:embed="rId6"/>
          <a:stretch>
            <a:fillRect/>
          </a:stretch>
        </p:blipFill>
        <p:spPr>
          <a:xfrm>
            <a:off x="4270863" y="4322266"/>
            <a:ext cx="128485" cy="213618"/>
          </a:xfrm>
          <a:prstGeom prst="rect">
            <a:avLst/>
          </a:prstGeom>
        </p:spPr>
      </p:pic>
      <p:pic>
        <p:nvPicPr>
          <p:cNvPr id="15" name="Image 6" descr="preencoded.png"/>
          <p:cNvPicPr>
            <a:picLocks noChangeAspect="1"/>
          </p:cNvPicPr>
          <p:nvPr/>
        </p:nvPicPr>
        <p:blipFill>
          <a:blip r:embed="rId5"/>
          <a:stretch>
            <a:fillRect/>
          </a:stretch>
        </p:blipFill>
        <p:spPr>
          <a:xfrm>
            <a:off x="5415819" y="4322266"/>
            <a:ext cx="181268" cy="213618"/>
          </a:xfrm>
          <a:prstGeom prst="rect">
            <a:avLst/>
          </a:prstGeom>
        </p:spPr>
      </p:pic>
      <p:sp>
        <p:nvSpPr>
          <p:cNvPr id="16" name="Shape 7"/>
          <p:cNvSpPr/>
          <p:nvPr/>
        </p:nvSpPr>
        <p:spPr>
          <a:xfrm>
            <a:off x="6178495" y="3461841"/>
            <a:ext cx="2593216" cy="1535906"/>
          </a:xfrm>
          <a:prstGeom prst="roundRect">
            <a:avLst>
              <a:gd name="adj" fmla="val 4523"/>
            </a:avLst>
          </a:prstGeom>
          <a:solidFill>
            <a:srgbClr val="FFFFFF"/>
          </a:solidFill>
          <a:ln w="19050">
            <a:solidFill>
              <a:srgbClr val="E3D9B4"/>
            </a:solidFill>
            <a:prstDash val="solid"/>
          </a:ln>
        </p:spPr>
      </p:sp>
      <p:sp>
        <p:nvSpPr>
          <p:cNvPr id="17" name="Text 8"/>
          <p:cNvSpPr/>
          <p:nvPr/>
        </p:nvSpPr>
        <p:spPr>
          <a:xfrm>
            <a:off x="6362838" y="3646190"/>
            <a:ext cx="2224528" cy="274141"/>
          </a:xfrm>
          <a:prstGeom prst="rect">
            <a:avLst/>
          </a:prstGeom>
          <a:noFill/>
          <a:ln/>
        </p:spPr>
        <p:txBody>
          <a:bodyPr wrap="none" lIns="0" tIns="0" rIns="0" bIns="0" rtlCol="0" anchor="t"/>
          <a:lstStyle/>
          <a:p>
            <a:pPr marL="0" indent="0" algn="l">
              <a:lnSpc>
                <a:spcPct val="104000"/>
              </a:lnSpc>
              <a:buNone/>
            </a:pPr>
            <a:r>
              <a:rPr lang="en-US" sz="1600" b="1" i="1" dirty="0">
                <a:solidFill>
                  <a:srgbClr val="000000"/>
                </a:solidFill>
                <a:latin typeface="PT Sans Bold" pitchFamily="34" charset="0"/>
                <a:ea typeface="PT Sans Bold" pitchFamily="34" charset="-122"/>
                <a:cs typeface="PT Sans Bold" pitchFamily="34" charset="-120"/>
              </a:rPr>
              <a:t>   </a:t>
            </a:r>
            <a:endParaRPr lang="en-US" sz="1600" dirty="0"/>
          </a:p>
        </p:txBody>
      </p:sp>
      <p:pic>
        <p:nvPicPr>
          <p:cNvPr id="18" name="Image 7" descr="preencoded.png"/>
          <p:cNvPicPr>
            <a:picLocks noChangeAspect="1"/>
          </p:cNvPicPr>
          <p:nvPr/>
        </p:nvPicPr>
        <p:blipFill>
          <a:blip r:embed="rId8"/>
          <a:stretch>
            <a:fillRect/>
          </a:stretch>
        </p:blipFill>
        <p:spPr>
          <a:xfrm>
            <a:off x="6362838" y="3665240"/>
            <a:ext cx="485465" cy="255091"/>
          </a:xfrm>
          <a:prstGeom prst="rect">
            <a:avLst/>
          </a:prstGeom>
        </p:spPr>
      </p:pic>
      <p:sp>
        <p:nvSpPr>
          <p:cNvPr id="19" name="Text 9"/>
          <p:cNvSpPr/>
          <p:nvPr/>
        </p:nvSpPr>
        <p:spPr>
          <a:xfrm>
            <a:off x="6362838" y="4019550"/>
            <a:ext cx="2224528"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000000"/>
                </a:solidFill>
                <a:latin typeface="PT Sans" pitchFamily="34" charset="0"/>
                <a:ea typeface="PT Sans" pitchFamily="34" charset="-122"/>
                <a:cs typeface="PT Sans" pitchFamily="34" charset="-120"/>
              </a:rPr>
              <a:t>Probabilitas hipotesis </a:t>
            </a:r>
            <a:r>
              <a:rPr lang="en-US" sz="1300" i="1" dirty="0">
                <a:solidFill>
                  <a:srgbClr val="000000"/>
                </a:solidFill>
                <a:latin typeface="PT Sans" pitchFamily="34" charset="0"/>
                <a:ea typeface="PT Sans" pitchFamily="34" charset="-122"/>
                <a:cs typeface="PT Sans" pitchFamily="34" charset="-120"/>
              </a:rPr>
              <a:t>  </a:t>
            </a:r>
            <a:r>
              <a:rPr lang="en-US" sz="1300" dirty="0">
                <a:solidFill>
                  <a:srgbClr val="000000"/>
                </a:solidFill>
                <a:latin typeface="PT Sans" pitchFamily="34" charset="0"/>
                <a:ea typeface="PT Sans" pitchFamily="34" charset="-122"/>
                <a:cs typeface="PT Sans" pitchFamily="34" charset="-120"/>
              </a:rPr>
              <a:t> tanpa memandang evidence apapun</a:t>
            </a:r>
            <a:endParaRPr lang="en-US" sz="1300" dirty="0"/>
          </a:p>
        </p:txBody>
      </p:sp>
      <p:pic>
        <p:nvPicPr>
          <p:cNvPr id="20" name="Image 8" descr="preencoded.png"/>
          <p:cNvPicPr>
            <a:picLocks noChangeAspect="1"/>
          </p:cNvPicPr>
          <p:nvPr/>
        </p:nvPicPr>
        <p:blipFill>
          <a:blip r:embed="rId5"/>
          <a:stretch>
            <a:fillRect/>
          </a:stretch>
        </p:blipFill>
        <p:spPr>
          <a:xfrm>
            <a:off x="7921923" y="4057650"/>
            <a:ext cx="181268" cy="213618"/>
          </a:xfrm>
          <a:prstGeom prst="rect">
            <a:avLst/>
          </a:prstGeom>
        </p:spPr>
      </p:pic>
      <p:sp>
        <p:nvSpPr>
          <p:cNvPr id="21" name="Shape 10"/>
          <p:cNvSpPr/>
          <p:nvPr/>
        </p:nvSpPr>
        <p:spPr>
          <a:xfrm>
            <a:off x="8937005" y="3461841"/>
            <a:ext cx="2593216" cy="1535906"/>
          </a:xfrm>
          <a:prstGeom prst="roundRect">
            <a:avLst>
              <a:gd name="adj" fmla="val 4523"/>
            </a:avLst>
          </a:prstGeom>
          <a:solidFill>
            <a:srgbClr val="FFFFFF"/>
          </a:solidFill>
          <a:ln w="19050">
            <a:solidFill>
              <a:srgbClr val="E3D9B4"/>
            </a:solidFill>
            <a:prstDash val="solid"/>
          </a:ln>
        </p:spPr>
      </p:sp>
      <p:sp>
        <p:nvSpPr>
          <p:cNvPr id="22" name="Text 11"/>
          <p:cNvSpPr/>
          <p:nvPr/>
        </p:nvSpPr>
        <p:spPr>
          <a:xfrm>
            <a:off x="9121348" y="3646190"/>
            <a:ext cx="2224528" cy="274141"/>
          </a:xfrm>
          <a:prstGeom prst="rect">
            <a:avLst/>
          </a:prstGeom>
          <a:noFill/>
          <a:ln/>
        </p:spPr>
        <p:txBody>
          <a:bodyPr wrap="none" lIns="0" tIns="0" rIns="0" bIns="0" rtlCol="0" anchor="t"/>
          <a:lstStyle/>
          <a:p>
            <a:pPr marL="0" indent="0" algn="l">
              <a:lnSpc>
                <a:spcPct val="104000"/>
              </a:lnSpc>
              <a:buNone/>
            </a:pPr>
            <a:r>
              <a:rPr lang="en-US" sz="1600" b="1" i="1" dirty="0">
                <a:solidFill>
                  <a:srgbClr val="000000"/>
                </a:solidFill>
                <a:latin typeface="PT Sans Bold" pitchFamily="34" charset="0"/>
                <a:ea typeface="PT Sans Bold" pitchFamily="34" charset="-122"/>
                <a:cs typeface="PT Sans Bold" pitchFamily="34" charset="-120"/>
              </a:rPr>
              <a:t> </a:t>
            </a:r>
            <a:endParaRPr lang="en-US" sz="1600" dirty="0"/>
          </a:p>
        </p:txBody>
      </p:sp>
      <p:pic>
        <p:nvPicPr>
          <p:cNvPr id="23" name="Image 9" descr="preencoded.png"/>
          <p:cNvPicPr>
            <a:picLocks noChangeAspect="1"/>
          </p:cNvPicPr>
          <p:nvPr/>
        </p:nvPicPr>
        <p:blipFill>
          <a:blip r:embed="rId9"/>
          <a:stretch>
            <a:fillRect/>
          </a:stretch>
        </p:blipFill>
        <p:spPr>
          <a:xfrm>
            <a:off x="9121348" y="3665240"/>
            <a:ext cx="121242" cy="255091"/>
          </a:xfrm>
          <a:prstGeom prst="rect">
            <a:avLst/>
          </a:prstGeom>
        </p:spPr>
      </p:pic>
      <p:sp>
        <p:nvSpPr>
          <p:cNvPr id="24" name="Text 12"/>
          <p:cNvSpPr/>
          <p:nvPr/>
        </p:nvSpPr>
        <p:spPr>
          <a:xfrm>
            <a:off x="9121348" y="4019550"/>
            <a:ext cx="2224528" cy="264616"/>
          </a:xfrm>
          <a:prstGeom prst="rect">
            <a:avLst/>
          </a:prstGeom>
          <a:noFill/>
          <a:ln/>
        </p:spPr>
        <p:txBody>
          <a:bodyPr wrap="none" lIns="0" tIns="0" rIns="0" bIns="0" rtlCol="0" anchor="t"/>
          <a:lstStyle/>
          <a:p>
            <a:pPr marL="0" indent="0" algn="l">
              <a:lnSpc>
                <a:spcPct val="133000"/>
              </a:lnSpc>
              <a:buNone/>
            </a:pPr>
            <a:r>
              <a:rPr lang="en-US" sz="1300" dirty="0">
                <a:solidFill>
                  <a:srgbClr val="000000"/>
                </a:solidFill>
                <a:latin typeface="PT Sans" pitchFamily="34" charset="0"/>
                <a:ea typeface="PT Sans" pitchFamily="34" charset="-122"/>
                <a:cs typeface="PT Sans" pitchFamily="34" charset="-120"/>
              </a:rPr>
              <a:t>Jumlah hipotesis yang mungkin</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4571886" cy="6858000"/>
          </a:xfrm>
          <a:prstGeom prst="rect">
            <a:avLst/>
          </a:prstGeom>
        </p:spPr>
      </p:pic>
      <p:sp>
        <p:nvSpPr>
          <p:cNvPr id="3" name="Text 0"/>
          <p:cNvSpPr/>
          <p:nvPr/>
        </p:nvSpPr>
        <p:spPr>
          <a:xfrm>
            <a:off x="5233360" y="2259013"/>
            <a:ext cx="6296860" cy="1033463"/>
          </a:xfrm>
          <a:prstGeom prst="rect">
            <a:avLst/>
          </a:prstGeom>
          <a:noFill/>
          <a:ln/>
        </p:spPr>
        <p:txBody>
          <a:bodyPr wrap="square" lIns="0" tIns="0" rIns="0" bIns="0" rtlCol="0" anchor="t">
            <a:normAutofit/>
          </a:bodyPr>
          <a:lstStyle/>
          <a:p>
            <a:pPr marL="0" indent="0" algn="l">
              <a:lnSpc>
                <a:spcPct val="104000"/>
              </a:lnSpc>
              <a:buNone/>
            </a:pPr>
            <a:r>
              <a:rPr lang="en-US" sz="3250" b="1" dirty="0">
                <a:solidFill>
                  <a:srgbClr val="000000"/>
                </a:solidFill>
                <a:latin typeface="PT Sans Bold" pitchFamily="34" charset="0"/>
                <a:ea typeface="PT Sans Bold" pitchFamily="34" charset="-122"/>
                <a:cs typeface="PT Sans Bold" pitchFamily="34" charset="-120"/>
              </a:rPr>
              <a:t>Analogi Teorema Bayes: Dokter dan Pasien</a:t>
            </a:r>
            <a:endParaRPr lang="en-US" sz="3250" dirty="0"/>
          </a:p>
        </p:txBody>
      </p:sp>
      <p:sp>
        <p:nvSpPr>
          <p:cNvPr id="4" name="Text 1"/>
          <p:cNvSpPr/>
          <p:nvPr/>
        </p:nvSpPr>
        <p:spPr>
          <a:xfrm>
            <a:off x="5233360" y="3540522"/>
            <a:ext cx="6296860" cy="1058466"/>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000000"/>
                </a:solidFill>
                <a:latin typeface="PT Sans" pitchFamily="34" charset="0"/>
                <a:ea typeface="PT Sans" pitchFamily="34" charset="-122"/>
                <a:cs typeface="PT Sans" pitchFamily="34" charset="-120"/>
              </a:rPr>
              <a:t>Bayangkan seorang dokter melihat pasien dengan </a:t>
            </a:r>
            <a:r>
              <a:rPr lang="en-US" sz="1300" b="1" dirty="0">
                <a:solidFill>
                  <a:srgbClr val="000000"/>
                </a:solidFill>
                <a:latin typeface="PT Sans Bold" pitchFamily="34" charset="0"/>
                <a:ea typeface="PT Sans Bold" pitchFamily="34" charset="-122"/>
                <a:cs typeface="PT Sans Bold" pitchFamily="34" charset="-120"/>
              </a:rPr>
              <a:t>bintik-bintik di wajah</a:t>
            </a:r>
            <a:r>
              <a:rPr lang="en-US" sz="1300" dirty="0">
                <a:solidFill>
                  <a:srgbClr val="000000"/>
                </a:solidFill>
                <a:latin typeface="PT Sans" pitchFamily="34" charset="0"/>
                <a:ea typeface="PT Sans" pitchFamily="34" charset="-122"/>
                <a:cs typeface="PT Sans" pitchFamily="34" charset="-120"/>
              </a:rPr>
              <a:t>. Dokter tidak langsung memvonis satu penyakit — ia mempertimbangkan beberapa kemungkinan: cacar, alergi, atau jerawat. Teorema Bayes membantu dokter menghitung probabilitas masing-masing penyakit berdasarkan gejala yang ada.</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661475" y="1587202"/>
            <a:ext cx="10868745" cy="516731"/>
          </a:xfrm>
          <a:prstGeom prst="rect">
            <a:avLst/>
          </a:prstGeom>
          <a:noFill/>
          <a:ln/>
        </p:spPr>
        <p:txBody>
          <a:bodyPr wrap="none" lIns="0" tIns="0" rIns="0" bIns="0" rtlCol="0" anchor="t"/>
          <a:lstStyle/>
          <a:p>
            <a:pPr marL="0" indent="0" algn="l">
              <a:lnSpc>
                <a:spcPct val="104000"/>
              </a:lnSpc>
              <a:buNone/>
            </a:pPr>
            <a:r>
              <a:rPr lang="en-US" sz="3250" b="1" dirty="0">
                <a:solidFill>
                  <a:srgbClr val="000000"/>
                </a:solidFill>
                <a:latin typeface="PT Sans Bold" pitchFamily="34" charset="0"/>
                <a:ea typeface="PT Sans Bold" pitchFamily="34" charset="-122"/>
                <a:cs typeface="PT Sans Bold" pitchFamily="34" charset="-120"/>
              </a:rPr>
              <a:t>Studi Kasus: Asih dan Bintik di Wajah</a:t>
            </a:r>
            <a:endParaRPr lang="en-US" sz="3250" dirty="0"/>
          </a:p>
        </p:txBody>
      </p:sp>
      <p:sp>
        <p:nvSpPr>
          <p:cNvPr id="3" name="Text 1"/>
          <p:cNvSpPr/>
          <p:nvPr/>
        </p:nvSpPr>
        <p:spPr>
          <a:xfrm>
            <a:off x="661475" y="2434630"/>
            <a:ext cx="11478330" cy="264616"/>
          </a:xfrm>
          <a:prstGeom prst="rect">
            <a:avLst/>
          </a:prstGeom>
          <a:noFill/>
          <a:ln/>
        </p:spPr>
        <p:txBody>
          <a:bodyPr wrap="none" lIns="0" tIns="0" rIns="0" bIns="0" rtlCol="0" anchor="t"/>
          <a:lstStyle/>
          <a:p>
            <a:pPr marL="0" indent="0" algn="l">
              <a:lnSpc>
                <a:spcPct val="133000"/>
              </a:lnSpc>
              <a:buNone/>
            </a:pPr>
            <a:r>
              <a:rPr lang="en-US" sz="1300" dirty="0">
                <a:solidFill>
                  <a:srgbClr val="000000"/>
                </a:solidFill>
                <a:latin typeface="PT Sans" pitchFamily="34" charset="0"/>
                <a:ea typeface="PT Sans" pitchFamily="34" charset="-122"/>
                <a:cs typeface="PT Sans" pitchFamily="34" charset="-120"/>
              </a:rPr>
              <a:t>Asih mengalami bintik-bintik di wajahnya. Dokter mempertimbangkan tiga hipotesis: </a:t>
            </a:r>
            <a:r>
              <a:rPr lang="en-US" sz="1300" b="1" dirty="0">
                <a:solidFill>
                  <a:srgbClr val="000000"/>
                </a:solidFill>
                <a:latin typeface="PT Sans Bold" pitchFamily="34" charset="0"/>
                <a:ea typeface="PT Sans Bold" pitchFamily="34" charset="-122"/>
                <a:cs typeface="PT Sans Bold" pitchFamily="34" charset="-120"/>
              </a:rPr>
              <a:t>cacar, alergi, atau jerawat</a:t>
            </a:r>
            <a:r>
              <a:rPr lang="en-US" sz="1300" dirty="0">
                <a:solidFill>
                  <a:srgbClr val="000000"/>
                </a:solidFill>
                <a:latin typeface="PT Sans" pitchFamily="34" charset="0"/>
                <a:ea typeface="PT Sans" pitchFamily="34" charset="-122"/>
                <a:cs typeface="PT Sans" pitchFamily="34" charset="-120"/>
              </a:rPr>
              <a:t>. Berikut data probabilitas yang diketahui:</a:t>
            </a:r>
            <a:endParaRPr lang="en-US" sz="13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61475" y="2885281"/>
          <a:ext cx="10868745" cy="1922018"/>
        </p:xfrm>
        <a:graphic>
          <a:graphicData uri="http://schemas.openxmlformats.org/drawingml/2006/table">
            <a:tbl>
              <a:tblPr/>
              <a:tblGrid>
                <a:gridCol w="3622915">
                  <a:extLst>
                    <a:ext uri="{9D8B030D-6E8A-4147-A177-3AD203B41FA5}">
                      <a16:colId xmlns:a16="http://schemas.microsoft.com/office/drawing/2014/main" val="20000"/>
                    </a:ext>
                  </a:extLst>
                </a:gridCol>
                <a:gridCol w="3622915">
                  <a:extLst>
                    <a:ext uri="{9D8B030D-6E8A-4147-A177-3AD203B41FA5}">
                      <a16:colId xmlns:a16="http://schemas.microsoft.com/office/drawing/2014/main" val="20001"/>
                    </a:ext>
                  </a:extLst>
                </a:gridCol>
                <a:gridCol w="3622915">
                  <a:extLst>
                    <a:ext uri="{9D8B030D-6E8A-4147-A177-3AD203B41FA5}">
                      <a16:colId xmlns:a16="http://schemas.microsoft.com/office/drawing/2014/main" val="20002"/>
                    </a:ext>
                  </a:extLst>
                </a:gridCol>
              </a:tblGrid>
              <a:tr h="478917">
                <a:tc>
                  <a:txBody>
                    <a:bodyPr/>
                    <a:lstStyle/>
                    <a:p>
                      <a:pPr marL="0" indent="0">
                        <a:buNone/>
                      </a:pPr>
                      <a:r>
                        <a:rPr lang="en-US" sz="1300" b="1" dirty="0">
                          <a:solidFill>
                            <a:srgbClr val="000000"/>
                          </a:solidFill>
                          <a:latin typeface="PT Sans" pitchFamily="34" charset="0"/>
                          <a:ea typeface="PT Sans" pitchFamily="34" charset="-122"/>
                          <a:cs typeface="PT Sans" pitchFamily="34" charset="-120"/>
                        </a:rPr>
                        <a:t>Kondisi</a:t>
                      </a:r>
                      <a:endParaRPr lang="en-US" sz="1300" dirty="0">
                        <a:latin typeface="PT Sans" charset="0"/>
                        <a:ea typeface="PT Sans" charset="0"/>
                        <a:cs typeface="PT Sans" charset="0"/>
                      </a:endParaRPr>
                    </a:p>
                  </a:txBody>
                  <a:tcPr marL="165391" marR="165391" marT="6350" marB="6350" anchor="ctr">
                    <a:lnL w="12700" cap="flat" cmpd="sng" algn="ctr">
                      <a:solidFill>
                        <a:srgbClr val="E3D9B4"/>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E3D9B4"/>
                      </a:solidFill>
                      <a:prstDash val="solid"/>
                      <a:round/>
                      <a:headEnd type="none" w="med" len="med"/>
                      <a:tailEnd type="none" w="med" len="med"/>
                    </a:lnT>
                    <a:lnB w="12700" cap="flat" cmpd="sng" algn="ctr">
                      <a:solidFill>
                        <a:srgbClr val="E3D9B4"/>
                      </a:solidFill>
                      <a:prstDash val="solid"/>
                      <a:round/>
                      <a:headEnd type="none" w="med" len="med"/>
                      <a:tailEnd type="none" w="med" len="med"/>
                    </a:lnB>
                  </a:tcPr>
                </a:tc>
                <a:tc>
                  <a:txBody>
                    <a:bodyPr/>
                    <a:lstStyle/>
                    <a:p>
                      <a:pPr marL="0" indent="0">
                        <a:buNone/>
                      </a:pPr>
                      <a:r>
                        <a:rPr lang="en-US" sz="1300" b="1" dirty="0">
                          <a:solidFill>
                            <a:srgbClr val="000000"/>
                          </a:solidFill>
                          <a:latin typeface="PT Sans" pitchFamily="34" charset="0"/>
                          <a:ea typeface="PT Sans" pitchFamily="34" charset="-122"/>
                          <a:cs typeface="PT Sans" pitchFamily="34" charset="-120"/>
                        </a:rPr>
                        <a:t>p(bintik | kondisi)</a:t>
                      </a:r>
                      <a:endParaRPr lang="en-US" sz="1300" dirty="0">
                        <a:latin typeface="PT Sans" charset="0"/>
                        <a:ea typeface="PT Sans" charset="0"/>
                        <a:cs typeface="PT Sans" charset="0"/>
                      </a:endParaRPr>
                    </a:p>
                  </a:txBody>
                  <a:tcPr marL="165391" marR="165391" marT="6350" marB="635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E3D9B4"/>
                      </a:solidFill>
                      <a:prstDash val="solid"/>
                      <a:round/>
                      <a:headEnd type="none" w="med" len="med"/>
                      <a:tailEnd type="none" w="med" len="med"/>
                    </a:lnT>
                    <a:lnB w="12700" cap="flat" cmpd="sng" algn="ctr">
                      <a:solidFill>
                        <a:srgbClr val="E3D9B4"/>
                      </a:solidFill>
                      <a:prstDash val="solid"/>
                      <a:round/>
                      <a:headEnd type="none" w="med" len="med"/>
                      <a:tailEnd type="none" w="med" len="med"/>
                    </a:lnB>
                  </a:tcPr>
                </a:tc>
                <a:tc>
                  <a:txBody>
                    <a:bodyPr/>
                    <a:lstStyle/>
                    <a:p>
                      <a:pPr marL="0" indent="0">
                        <a:buNone/>
                      </a:pPr>
                      <a:r>
                        <a:rPr lang="en-US" sz="1300" b="1" dirty="0">
                          <a:solidFill>
                            <a:srgbClr val="000000"/>
                          </a:solidFill>
                          <a:latin typeface="PT Sans" pitchFamily="34" charset="0"/>
                          <a:ea typeface="PT Sans" pitchFamily="34" charset="-122"/>
                          <a:cs typeface="PT Sans" pitchFamily="34" charset="-120"/>
                        </a:rPr>
                        <a:t>p(kondisi)</a:t>
                      </a:r>
                      <a:endParaRPr lang="en-US" sz="1300" dirty="0">
                        <a:latin typeface="PT Sans" charset="0"/>
                        <a:ea typeface="PT Sans" charset="0"/>
                        <a:cs typeface="PT Sans" charset="0"/>
                      </a:endParaRPr>
                    </a:p>
                  </a:txBody>
                  <a:tcPr marL="165391" marR="165391" marT="6350" marB="6350" anchor="ctr">
                    <a:lnL w="12700" cap="flat" cmpd="sng" algn="ctr">
                      <a:solidFill>
                        <a:srgbClr val="FFFFFF"/>
                      </a:solidFill>
                      <a:prstDash val="solid"/>
                      <a:round/>
                      <a:headEnd type="none" w="med" len="med"/>
                      <a:tailEnd type="none" w="med" len="med"/>
                    </a:lnL>
                    <a:lnR w="12700" cap="flat" cmpd="sng" algn="ctr">
                      <a:solidFill>
                        <a:srgbClr val="E3D9B4"/>
                      </a:solidFill>
                      <a:prstDash val="solid"/>
                      <a:round/>
                      <a:headEnd type="none" w="med" len="med"/>
                      <a:tailEnd type="none" w="med" len="med"/>
                    </a:lnR>
                    <a:lnT w="12700" cap="flat" cmpd="sng" algn="ctr">
                      <a:solidFill>
                        <a:srgbClr val="E3D9B4"/>
                      </a:solidFill>
                      <a:prstDash val="solid"/>
                      <a:round/>
                      <a:headEnd type="none" w="med" len="med"/>
                      <a:tailEnd type="none" w="med" len="med"/>
                    </a:lnT>
                    <a:lnB w="12700" cap="flat" cmpd="sng" algn="ctr">
                      <a:solidFill>
                        <a:srgbClr val="E3D9B4"/>
                      </a:solidFill>
                      <a:prstDash val="solid"/>
                      <a:round/>
                      <a:headEnd type="none" w="med" len="med"/>
                      <a:tailEnd type="none" w="med" len="med"/>
                    </a:lnB>
                  </a:tcPr>
                </a:tc>
                <a:extLst>
                  <a:ext uri="{0D108BD9-81ED-4DB2-BD59-A6C34878D82A}">
                    <a16:rowId xmlns:a16="http://schemas.microsoft.com/office/drawing/2014/main" val="10000"/>
                  </a:ext>
                </a:extLst>
              </a:tr>
              <a:tr h="482092">
                <a:tc>
                  <a:txBody>
                    <a:bodyPr/>
                    <a:lstStyle/>
                    <a:p>
                      <a:pPr marL="0" indent="0">
                        <a:buNone/>
                      </a:pPr>
                      <a:r>
                        <a:rPr lang="en-US" sz="1300" dirty="0">
                          <a:solidFill>
                            <a:srgbClr val="000000"/>
                          </a:solidFill>
                          <a:latin typeface="PT Sans" pitchFamily="34" charset="0"/>
                          <a:ea typeface="PT Sans" pitchFamily="34" charset="-122"/>
                          <a:cs typeface="PT Sans" pitchFamily="34" charset="-120"/>
                        </a:rPr>
                        <a:t>Cacar</a:t>
                      </a:r>
                      <a:endParaRPr lang="en-US" sz="1300" dirty="0">
                        <a:latin typeface="PT Sans" charset="0"/>
                        <a:ea typeface="PT Sans" charset="0"/>
                        <a:cs typeface="PT Sans" charset="0"/>
                      </a:endParaRPr>
                    </a:p>
                  </a:txBody>
                  <a:tcPr marL="165391" marR="165391" marT="6350" marB="6350" anchor="ctr">
                    <a:lnL w="12700" cap="flat" cmpd="sng" algn="ctr">
                      <a:solidFill>
                        <a:srgbClr val="E3D9B4"/>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E3D9B4"/>
                      </a:solidFill>
                      <a:prstDash val="solid"/>
                      <a:round/>
                      <a:headEnd type="none" w="med" len="med"/>
                      <a:tailEnd type="none" w="med" len="med"/>
                    </a:lnT>
                    <a:lnB w="12700" cap="flat" cmpd="sng" algn="ctr">
                      <a:solidFill>
                        <a:srgbClr val="E3D9B4"/>
                      </a:solidFill>
                      <a:prstDash val="solid"/>
                      <a:round/>
                      <a:headEnd type="none" w="med" len="med"/>
                      <a:tailEnd type="none" w="med" len="med"/>
                    </a:lnB>
                  </a:tcPr>
                </a:tc>
                <a:tc>
                  <a:txBody>
                    <a:bodyPr/>
                    <a:lstStyle/>
                    <a:p>
                      <a:pPr marL="0" indent="0">
                        <a:buNone/>
                      </a:pPr>
                      <a:r>
                        <a:rPr lang="en-US" sz="1300" dirty="0">
                          <a:solidFill>
                            <a:srgbClr val="000000"/>
                          </a:solidFill>
                          <a:latin typeface="PT Sans" pitchFamily="34" charset="0"/>
                          <a:ea typeface="PT Sans" pitchFamily="34" charset="-122"/>
                          <a:cs typeface="PT Sans" pitchFamily="34" charset="-120"/>
                        </a:rPr>
                        <a:t>0.8</a:t>
                      </a:r>
                      <a:endParaRPr lang="en-US" sz="1300" dirty="0">
                        <a:latin typeface="PT Sans" charset="0"/>
                        <a:ea typeface="PT Sans" charset="0"/>
                        <a:cs typeface="PT Sans" charset="0"/>
                      </a:endParaRPr>
                    </a:p>
                  </a:txBody>
                  <a:tcPr marL="165391" marR="165391" marT="6350" marB="635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E3D9B4"/>
                      </a:solidFill>
                      <a:prstDash val="solid"/>
                      <a:round/>
                      <a:headEnd type="none" w="med" len="med"/>
                      <a:tailEnd type="none" w="med" len="med"/>
                    </a:lnT>
                    <a:lnB w="12700" cap="flat" cmpd="sng" algn="ctr">
                      <a:solidFill>
                        <a:srgbClr val="E3D9B4"/>
                      </a:solidFill>
                      <a:prstDash val="solid"/>
                      <a:round/>
                      <a:headEnd type="none" w="med" len="med"/>
                      <a:tailEnd type="none" w="med" len="med"/>
                    </a:lnB>
                  </a:tcPr>
                </a:tc>
                <a:tc>
                  <a:txBody>
                    <a:bodyPr/>
                    <a:lstStyle/>
                    <a:p>
                      <a:pPr marL="0" indent="0">
                        <a:buNone/>
                      </a:pPr>
                      <a:r>
                        <a:rPr lang="en-US" sz="1300" dirty="0">
                          <a:solidFill>
                            <a:srgbClr val="000000"/>
                          </a:solidFill>
                          <a:latin typeface="PT Sans" pitchFamily="34" charset="0"/>
                          <a:ea typeface="PT Sans" pitchFamily="34" charset="-122"/>
                          <a:cs typeface="PT Sans" pitchFamily="34" charset="-120"/>
                        </a:rPr>
                        <a:t>0.4</a:t>
                      </a:r>
                      <a:endParaRPr lang="en-US" sz="1300" dirty="0">
                        <a:latin typeface="PT Sans" charset="0"/>
                        <a:ea typeface="PT Sans" charset="0"/>
                        <a:cs typeface="PT Sans" charset="0"/>
                      </a:endParaRPr>
                    </a:p>
                  </a:txBody>
                  <a:tcPr marL="165391" marR="165391" marT="6350" marB="6350" anchor="ctr">
                    <a:lnL w="12700" cap="flat" cmpd="sng" algn="ctr">
                      <a:solidFill>
                        <a:srgbClr val="FFFFFF"/>
                      </a:solidFill>
                      <a:prstDash val="solid"/>
                      <a:round/>
                      <a:headEnd type="none" w="med" len="med"/>
                      <a:tailEnd type="none" w="med" len="med"/>
                    </a:lnL>
                    <a:lnR w="12700" cap="flat" cmpd="sng" algn="ctr">
                      <a:solidFill>
                        <a:srgbClr val="E3D9B4"/>
                      </a:solidFill>
                      <a:prstDash val="solid"/>
                      <a:round/>
                      <a:headEnd type="none" w="med" len="med"/>
                      <a:tailEnd type="none" w="med" len="med"/>
                    </a:lnR>
                    <a:lnT w="12700" cap="flat" cmpd="sng" algn="ctr">
                      <a:solidFill>
                        <a:srgbClr val="E3D9B4"/>
                      </a:solidFill>
                      <a:prstDash val="solid"/>
                      <a:round/>
                      <a:headEnd type="none" w="med" len="med"/>
                      <a:tailEnd type="none" w="med" len="med"/>
                    </a:lnT>
                    <a:lnB w="12700" cap="flat" cmpd="sng" algn="ctr">
                      <a:solidFill>
                        <a:srgbClr val="E3D9B4"/>
                      </a:solidFill>
                      <a:prstDash val="solid"/>
                      <a:round/>
                      <a:headEnd type="none" w="med" len="med"/>
                      <a:tailEnd type="none" w="med" len="med"/>
                    </a:lnB>
                  </a:tcPr>
                </a:tc>
                <a:extLst>
                  <a:ext uri="{0D108BD9-81ED-4DB2-BD59-A6C34878D82A}">
                    <a16:rowId xmlns:a16="http://schemas.microsoft.com/office/drawing/2014/main" val="10001"/>
                  </a:ext>
                </a:extLst>
              </a:tr>
              <a:tr h="482092">
                <a:tc>
                  <a:txBody>
                    <a:bodyPr/>
                    <a:lstStyle/>
                    <a:p>
                      <a:pPr marL="0" indent="0">
                        <a:buNone/>
                      </a:pPr>
                      <a:r>
                        <a:rPr lang="en-US" sz="1300" dirty="0">
                          <a:solidFill>
                            <a:srgbClr val="000000"/>
                          </a:solidFill>
                          <a:latin typeface="PT Sans" pitchFamily="34" charset="0"/>
                          <a:ea typeface="PT Sans" pitchFamily="34" charset="-122"/>
                          <a:cs typeface="PT Sans" pitchFamily="34" charset="-120"/>
                        </a:rPr>
                        <a:t>Alergi</a:t>
                      </a:r>
                      <a:endParaRPr lang="en-US" sz="1300" dirty="0">
                        <a:latin typeface="PT Sans" charset="0"/>
                        <a:ea typeface="PT Sans" charset="0"/>
                        <a:cs typeface="PT Sans" charset="0"/>
                      </a:endParaRPr>
                    </a:p>
                  </a:txBody>
                  <a:tcPr marL="165391" marR="165391" marT="6350" marB="6350" anchor="ctr">
                    <a:lnL w="12700" cap="flat" cmpd="sng" algn="ctr">
                      <a:solidFill>
                        <a:srgbClr val="E3D9B4"/>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E3D9B4"/>
                      </a:solidFill>
                      <a:prstDash val="solid"/>
                      <a:round/>
                      <a:headEnd type="none" w="med" len="med"/>
                      <a:tailEnd type="none" w="med" len="med"/>
                    </a:lnT>
                    <a:lnB w="12700" cap="flat" cmpd="sng" algn="ctr">
                      <a:solidFill>
                        <a:srgbClr val="E3D9B4"/>
                      </a:solidFill>
                      <a:prstDash val="solid"/>
                      <a:round/>
                      <a:headEnd type="none" w="med" len="med"/>
                      <a:tailEnd type="none" w="med" len="med"/>
                    </a:lnB>
                  </a:tcPr>
                </a:tc>
                <a:tc>
                  <a:txBody>
                    <a:bodyPr/>
                    <a:lstStyle/>
                    <a:p>
                      <a:pPr marL="0" indent="0">
                        <a:buNone/>
                      </a:pPr>
                      <a:r>
                        <a:rPr lang="en-US" sz="1300" dirty="0">
                          <a:solidFill>
                            <a:srgbClr val="000000"/>
                          </a:solidFill>
                          <a:latin typeface="PT Sans" pitchFamily="34" charset="0"/>
                          <a:ea typeface="PT Sans" pitchFamily="34" charset="-122"/>
                          <a:cs typeface="PT Sans" pitchFamily="34" charset="-120"/>
                        </a:rPr>
                        <a:t>0.3</a:t>
                      </a:r>
                      <a:endParaRPr lang="en-US" sz="1300" dirty="0">
                        <a:latin typeface="PT Sans" charset="0"/>
                        <a:ea typeface="PT Sans" charset="0"/>
                        <a:cs typeface="PT Sans" charset="0"/>
                      </a:endParaRPr>
                    </a:p>
                  </a:txBody>
                  <a:tcPr marL="165391" marR="165391" marT="6350" marB="635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E3D9B4"/>
                      </a:solidFill>
                      <a:prstDash val="solid"/>
                      <a:round/>
                      <a:headEnd type="none" w="med" len="med"/>
                      <a:tailEnd type="none" w="med" len="med"/>
                    </a:lnT>
                    <a:lnB w="12700" cap="flat" cmpd="sng" algn="ctr">
                      <a:solidFill>
                        <a:srgbClr val="E3D9B4"/>
                      </a:solidFill>
                      <a:prstDash val="solid"/>
                      <a:round/>
                      <a:headEnd type="none" w="med" len="med"/>
                      <a:tailEnd type="none" w="med" len="med"/>
                    </a:lnB>
                  </a:tcPr>
                </a:tc>
                <a:tc>
                  <a:txBody>
                    <a:bodyPr/>
                    <a:lstStyle/>
                    <a:p>
                      <a:pPr marL="0" indent="0">
                        <a:buNone/>
                      </a:pPr>
                      <a:r>
                        <a:rPr lang="en-US" sz="1300" dirty="0">
                          <a:solidFill>
                            <a:srgbClr val="000000"/>
                          </a:solidFill>
                          <a:latin typeface="PT Sans" pitchFamily="34" charset="0"/>
                          <a:ea typeface="PT Sans" pitchFamily="34" charset="-122"/>
                          <a:cs typeface="PT Sans" pitchFamily="34" charset="-120"/>
                        </a:rPr>
                        <a:t>0.7</a:t>
                      </a:r>
                      <a:endParaRPr lang="en-US" sz="1300" dirty="0">
                        <a:latin typeface="PT Sans" charset="0"/>
                        <a:ea typeface="PT Sans" charset="0"/>
                        <a:cs typeface="PT Sans" charset="0"/>
                      </a:endParaRPr>
                    </a:p>
                  </a:txBody>
                  <a:tcPr marL="165391" marR="165391" marT="6350" marB="6350" anchor="ctr">
                    <a:lnL w="12700" cap="flat" cmpd="sng" algn="ctr">
                      <a:solidFill>
                        <a:srgbClr val="FFFFFF"/>
                      </a:solidFill>
                      <a:prstDash val="solid"/>
                      <a:round/>
                      <a:headEnd type="none" w="med" len="med"/>
                      <a:tailEnd type="none" w="med" len="med"/>
                    </a:lnL>
                    <a:lnR w="12700" cap="flat" cmpd="sng" algn="ctr">
                      <a:solidFill>
                        <a:srgbClr val="E3D9B4"/>
                      </a:solidFill>
                      <a:prstDash val="solid"/>
                      <a:round/>
                      <a:headEnd type="none" w="med" len="med"/>
                      <a:tailEnd type="none" w="med" len="med"/>
                    </a:lnR>
                    <a:lnT w="12700" cap="flat" cmpd="sng" algn="ctr">
                      <a:solidFill>
                        <a:srgbClr val="E3D9B4"/>
                      </a:solidFill>
                      <a:prstDash val="solid"/>
                      <a:round/>
                      <a:headEnd type="none" w="med" len="med"/>
                      <a:tailEnd type="none" w="med" len="med"/>
                    </a:lnT>
                    <a:lnB w="12700" cap="flat" cmpd="sng" algn="ctr">
                      <a:solidFill>
                        <a:srgbClr val="E3D9B4"/>
                      </a:solidFill>
                      <a:prstDash val="solid"/>
                      <a:round/>
                      <a:headEnd type="none" w="med" len="med"/>
                      <a:tailEnd type="none" w="med" len="med"/>
                    </a:lnB>
                  </a:tcPr>
                </a:tc>
                <a:extLst>
                  <a:ext uri="{0D108BD9-81ED-4DB2-BD59-A6C34878D82A}">
                    <a16:rowId xmlns:a16="http://schemas.microsoft.com/office/drawing/2014/main" val="10002"/>
                  </a:ext>
                </a:extLst>
              </a:tr>
              <a:tr h="478917">
                <a:tc>
                  <a:txBody>
                    <a:bodyPr/>
                    <a:lstStyle/>
                    <a:p>
                      <a:pPr marL="0" indent="0">
                        <a:buNone/>
                      </a:pPr>
                      <a:r>
                        <a:rPr lang="en-US" sz="1300" dirty="0">
                          <a:solidFill>
                            <a:srgbClr val="000000"/>
                          </a:solidFill>
                          <a:latin typeface="PT Sans" pitchFamily="34" charset="0"/>
                          <a:ea typeface="PT Sans" pitchFamily="34" charset="-122"/>
                          <a:cs typeface="PT Sans" pitchFamily="34" charset="-120"/>
                        </a:rPr>
                        <a:t>Jerawat</a:t>
                      </a:r>
                      <a:endParaRPr lang="en-US" sz="1300" dirty="0">
                        <a:latin typeface="PT Sans" charset="0"/>
                        <a:ea typeface="PT Sans" charset="0"/>
                        <a:cs typeface="PT Sans" charset="0"/>
                      </a:endParaRPr>
                    </a:p>
                  </a:txBody>
                  <a:tcPr marL="165391" marR="165391" marT="6350" marB="6350" anchor="ctr">
                    <a:lnL w="12700" cap="flat" cmpd="sng" algn="ctr">
                      <a:solidFill>
                        <a:srgbClr val="E3D9B4"/>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E3D9B4"/>
                      </a:solidFill>
                      <a:prstDash val="solid"/>
                      <a:round/>
                      <a:headEnd type="none" w="med" len="med"/>
                      <a:tailEnd type="none" w="med" len="med"/>
                    </a:lnT>
                    <a:lnB w="12700" cap="flat" cmpd="sng" algn="ctr">
                      <a:solidFill>
                        <a:srgbClr val="E3D9B4"/>
                      </a:solidFill>
                      <a:prstDash val="solid"/>
                      <a:round/>
                      <a:headEnd type="none" w="med" len="med"/>
                      <a:tailEnd type="none" w="med" len="med"/>
                    </a:lnB>
                  </a:tcPr>
                </a:tc>
                <a:tc>
                  <a:txBody>
                    <a:bodyPr/>
                    <a:lstStyle/>
                    <a:p>
                      <a:pPr marL="0" indent="0">
                        <a:buNone/>
                      </a:pPr>
                      <a:r>
                        <a:rPr lang="en-US" sz="1300" dirty="0">
                          <a:solidFill>
                            <a:srgbClr val="000000"/>
                          </a:solidFill>
                          <a:latin typeface="PT Sans" pitchFamily="34" charset="0"/>
                          <a:ea typeface="PT Sans" pitchFamily="34" charset="-122"/>
                          <a:cs typeface="PT Sans" pitchFamily="34" charset="-120"/>
                        </a:rPr>
                        <a:t>0.9</a:t>
                      </a:r>
                      <a:endParaRPr lang="en-US" sz="1300" dirty="0">
                        <a:latin typeface="PT Sans" charset="0"/>
                        <a:ea typeface="PT Sans" charset="0"/>
                        <a:cs typeface="PT Sans" charset="0"/>
                      </a:endParaRPr>
                    </a:p>
                  </a:txBody>
                  <a:tcPr marL="165391" marR="165391" marT="6350" marB="635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E3D9B4"/>
                      </a:solidFill>
                      <a:prstDash val="solid"/>
                      <a:round/>
                      <a:headEnd type="none" w="med" len="med"/>
                      <a:tailEnd type="none" w="med" len="med"/>
                    </a:lnT>
                    <a:lnB w="12700" cap="flat" cmpd="sng" algn="ctr">
                      <a:solidFill>
                        <a:srgbClr val="E3D9B4"/>
                      </a:solidFill>
                      <a:prstDash val="solid"/>
                      <a:round/>
                      <a:headEnd type="none" w="med" len="med"/>
                      <a:tailEnd type="none" w="med" len="med"/>
                    </a:lnB>
                  </a:tcPr>
                </a:tc>
                <a:tc>
                  <a:txBody>
                    <a:bodyPr/>
                    <a:lstStyle/>
                    <a:p>
                      <a:pPr marL="0" indent="0">
                        <a:buNone/>
                      </a:pPr>
                      <a:r>
                        <a:rPr lang="en-US" sz="1300" dirty="0">
                          <a:solidFill>
                            <a:srgbClr val="000000"/>
                          </a:solidFill>
                          <a:latin typeface="PT Sans" pitchFamily="34" charset="0"/>
                          <a:ea typeface="PT Sans" pitchFamily="34" charset="-122"/>
                          <a:cs typeface="PT Sans" pitchFamily="34" charset="-120"/>
                        </a:rPr>
                        <a:t>0.5</a:t>
                      </a:r>
                      <a:endParaRPr lang="en-US" sz="1300" dirty="0">
                        <a:latin typeface="PT Sans" charset="0"/>
                        <a:ea typeface="PT Sans" charset="0"/>
                        <a:cs typeface="PT Sans" charset="0"/>
                      </a:endParaRPr>
                    </a:p>
                  </a:txBody>
                  <a:tcPr marL="165391" marR="165391" marT="6350" marB="6350" anchor="ctr">
                    <a:lnL w="12700" cap="flat" cmpd="sng" algn="ctr">
                      <a:solidFill>
                        <a:srgbClr val="FFFFFF"/>
                      </a:solidFill>
                      <a:prstDash val="solid"/>
                      <a:round/>
                      <a:headEnd type="none" w="med" len="med"/>
                      <a:tailEnd type="none" w="med" len="med"/>
                    </a:lnL>
                    <a:lnR w="12700" cap="flat" cmpd="sng" algn="ctr">
                      <a:solidFill>
                        <a:srgbClr val="E3D9B4"/>
                      </a:solidFill>
                      <a:prstDash val="solid"/>
                      <a:round/>
                      <a:headEnd type="none" w="med" len="med"/>
                      <a:tailEnd type="none" w="med" len="med"/>
                    </a:lnR>
                    <a:lnT w="12700" cap="flat" cmpd="sng" algn="ctr">
                      <a:solidFill>
                        <a:srgbClr val="E3D9B4"/>
                      </a:solidFill>
                      <a:prstDash val="solid"/>
                      <a:round/>
                      <a:headEnd type="none" w="med" len="med"/>
                      <a:tailEnd type="none" w="med" len="med"/>
                    </a:lnT>
                    <a:lnB w="12700" cap="flat" cmpd="sng" algn="ctr">
                      <a:solidFill>
                        <a:srgbClr val="E3D9B4"/>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5" name="Text 2"/>
          <p:cNvSpPr/>
          <p:nvPr/>
        </p:nvSpPr>
        <p:spPr>
          <a:xfrm>
            <a:off x="661475" y="5006082"/>
            <a:ext cx="11478330" cy="264616"/>
          </a:xfrm>
          <a:prstGeom prst="rect">
            <a:avLst/>
          </a:prstGeom>
          <a:noFill/>
          <a:ln/>
        </p:spPr>
        <p:txBody>
          <a:bodyPr wrap="none" lIns="0" tIns="0" rIns="0" bIns="0" rtlCol="0" anchor="t"/>
          <a:lstStyle/>
          <a:p>
            <a:pPr marL="0" indent="0" algn="l">
              <a:lnSpc>
                <a:spcPct val="133000"/>
              </a:lnSpc>
              <a:buNone/>
            </a:pPr>
            <a:r>
              <a:rPr lang="en-US" sz="1300" dirty="0">
                <a:solidFill>
                  <a:srgbClr val="000000"/>
                </a:solidFill>
                <a:latin typeface="PT Sans" pitchFamily="34" charset="0"/>
                <a:ea typeface="PT Sans" pitchFamily="34" charset="-122"/>
                <a:cs typeface="PT Sans" pitchFamily="34" charset="-120"/>
              </a:rPr>
              <a:t>Penyebut (total): </a:t>
            </a:r>
            <a:r>
              <a:rPr lang="en-US" sz="1300" i="1" dirty="0">
                <a:solidFill>
                  <a:srgbClr val="000000"/>
                </a:solidFill>
                <a:latin typeface="PT Sans" pitchFamily="34" charset="0"/>
                <a:ea typeface="PT Sans" pitchFamily="34" charset="-122"/>
                <a:cs typeface="PT Sans" pitchFamily="34" charset="-120"/>
              </a:rPr>
              <a:t>                            </a:t>
            </a:r>
            <a:endParaRPr lang="en-US" sz="1300" dirty="0"/>
          </a:p>
        </p:txBody>
      </p:sp>
      <p:pic>
        <p:nvPicPr>
          <p:cNvPr id="6" name="Image 0" descr="preencoded.png"/>
          <p:cNvPicPr>
            <a:picLocks noChangeAspect="1"/>
          </p:cNvPicPr>
          <p:nvPr/>
        </p:nvPicPr>
        <p:blipFill>
          <a:blip r:embed="rId3"/>
          <a:stretch>
            <a:fillRect/>
          </a:stretch>
        </p:blipFill>
        <p:spPr>
          <a:xfrm>
            <a:off x="1862091" y="5044182"/>
            <a:ext cx="4362738" cy="213618"/>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661475" y="1961555"/>
            <a:ext cx="10868745" cy="516731"/>
          </a:xfrm>
          <a:prstGeom prst="rect">
            <a:avLst/>
          </a:prstGeom>
          <a:noFill/>
          <a:ln/>
        </p:spPr>
        <p:txBody>
          <a:bodyPr wrap="none" lIns="0" tIns="0" rIns="0" bIns="0" rtlCol="0" anchor="t"/>
          <a:lstStyle/>
          <a:p>
            <a:pPr marL="0" indent="0" algn="l">
              <a:lnSpc>
                <a:spcPct val="104000"/>
              </a:lnSpc>
              <a:buNone/>
            </a:pPr>
            <a:r>
              <a:rPr lang="en-US" sz="3250" b="1" dirty="0">
                <a:solidFill>
                  <a:srgbClr val="000000"/>
                </a:solidFill>
                <a:latin typeface="PT Sans Bold" pitchFamily="34" charset="0"/>
                <a:ea typeface="PT Sans Bold" pitchFamily="34" charset="-122"/>
                <a:cs typeface="PT Sans Bold" pitchFamily="34" charset="-120"/>
              </a:rPr>
              <a:t>Perhitungan Bayes: Probabilitas Cacar</a:t>
            </a:r>
            <a:endParaRPr lang="en-US" sz="3250" dirty="0"/>
          </a:p>
        </p:txBody>
      </p:sp>
      <p:pic>
        <p:nvPicPr>
          <p:cNvPr id="3" name="Image 0" descr="preencoded.png"/>
          <p:cNvPicPr>
            <a:picLocks noChangeAspect="1"/>
          </p:cNvPicPr>
          <p:nvPr/>
        </p:nvPicPr>
        <p:blipFill>
          <a:blip r:embed="rId3"/>
          <a:stretch>
            <a:fillRect/>
          </a:stretch>
        </p:blipFill>
        <p:spPr>
          <a:xfrm>
            <a:off x="661475" y="2808982"/>
            <a:ext cx="10868745" cy="532011"/>
          </a:xfrm>
          <a:prstGeom prst="rect">
            <a:avLst/>
          </a:prstGeom>
        </p:spPr>
      </p:pic>
      <p:pic>
        <p:nvPicPr>
          <p:cNvPr id="4" name="Image 1" descr="preencoded.png"/>
          <p:cNvPicPr>
            <a:picLocks noChangeAspect="1"/>
          </p:cNvPicPr>
          <p:nvPr/>
        </p:nvPicPr>
        <p:blipFill>
          <a:blip r:embed="rId4"/>
          <a:stretch>
            <a:fillRect/>
          </a:stretch>
        </p:blipFill>
        <p:spPr>
          <a:xfrm>
            <a:off x="661475" y="3550245"/>
            <a:ext cx="10868745" cy="475655"/>
          </a:xfrm>
          <a:prstGeom prst="rect">
            <a:avLst/>
          </a:prstGeom>
        </p:spPr>
      </p:pic>
      <p:sp>
        <p:nvSpPr>
          <p:cNvPr id="5" name="Shape 1"/>
          <p:cNvSpPr/>
          <p:nvPr/>
        </p:nvSpPr>
        <p:spPr>
          <a:xfrm>
            <a:off x="661475" y="4235152"/>
            <a:ext cx="10868745" cy="661293"/>
          </a:xfrm>
          <a:prstGeom prst="roundRect">
            <a:avLst>
              <a:gd name="adj" fmla="val 10504"/>
            </a:avLst>
          </a:prstGeom>
          <a:solidFill>
            <a:srgbClr val="FDF3CE"/>
          </a:solidFill>
          <a:ln/>
        </p:spPr>
      </p:sp>
      <p:pic>
        <p:nvPicPr>
          <p:cNvPr id="6" name="Image 2" descr="preencoded.png"/>
          <p:cNvPicPr>
            <a:picLocks noChangeAspect="1"/>
          </p:cNvPicPr>
          <p:nvPr/>
        </p:nvPicPr>
        <p:blipFill>
          <a:blip r:embed="rId5"/>
          <a:stretch>
            <a:fillRect/>
          </a:stretch>
        </p:blipFill>
        <p:spPr>
          <a:xfrm>
            <a:off x="826769" y="4474865"/>
            <a:ext cx="206667" cy="165298"/>
          </a:xfrm>
          <a:prstGeom prst="rect">
            <a:avLst/>
          </a:prstGeom>
        </p:spPr>
      </p:pic>
      <p:sp>
        <p:nvSpPr>
          <p:cNvPr id="7" name="Text 2"/>
          <p:cNvSpPr/>
          <p:nvPr/>
        </p:nvSpPr>
        <p:spPr>
          <a:xfrm>
            <a:off x="1198731" y="4441726"/>
            <a:ext cx="10775780" cy="264616"/>
          </a:xfrm>
          <a:prstGeom prst="rect">
            <a:avLst/>
          </a:prstGeom>
          <a:noFill/>
          <a:ln/>
        </p:spPr>
        <p:txBody>
          <a:bodyPr wrap="none" lIns="0" tIns="0" rIns="0" bIns="0" rtlCol="0" anchor="t"/>
          <a:lstStyle/>
          <a:p>
            <a:pPr marL="0" indent="0" algn="l">
              <a:lnSpc>
                <a:spcPct val="133000"/>
              </a:lnSpc>
              <a:buNone/>
            </a:pPr>
            <a:r>
              <a:rPr lang="en-US" sz="1300" dirty="0">
                <a:solidFill>
                  <a:srgbClr val="000000"/>
                </a:solidFill>
                <a:latin typeface="PT Sans" pitchFamily="34" charset="0"/>
                <a:ea typeface="PT Sans" pitchFamily="34" charset="-122"/>
                <a:cs typeface="PT Sans" pitchFamily="34" charset="-120"/>
              </a:rPr>
              <a:t>Probabilitas Asih terkena </a:t>
            </a:r>
            <a:r>
              <a:rPr lang="en-US" sz="1300" b="1" dirty="0">
                <a:solidFill>
                  <a:srgbClr val="000000"/>
                </a:solidFill>
                <a:latin typeface="PT Sans Bold" pitchFamily="34" charset="0"/>
                <a:ea typeface="PT Sans Bold" pitchFamily="34" charset="-122"/>
                <a:cs typeface="PT Sans Bold" pitchFamily="34" charset="-120"/>
              </a:rPr>
              <a:t>cacar</a:t>
            </a:r>
            <a:r>
              <a:rPr lang="en-US" sz="1300" dirty="0">
                <a:solidFill>
                  <a:srgbClr val="000000"/>
                </a:solidFill>
                <a:latin typeface="PT Sans" pitchFamily="34" charset="0"/>
                <a:ea typeface="PT Sans" pitchFamily="34" charset="-122"/>
                <a:cs typeface="PT Sans" pitchFamily="34" charset="-120"/>
              </a:rPr>
              <a:t> jika ada bintik-bintik di wajahnya adalah </a:t>
            </a:r>
            <a:r>
              <a:rPr lang="en-US" sz="1300" b="1" dirty="0">
                <a:solidFill>
                  <a:srgbClr val="000000"/>
                </a:solidFill>
                <a:latin typeface="PT Sans Bold" pitchFamily="34" charset="0"/>
                <a:ea typeface="PT Sans Bold" pitchFamily="34" charset="-122"/>
                <a:cs typeface="PT Sans Bold" pitchFamily="34" charset="-120"/>
              </a:rPr>
              <a:t>0.327 (32.7%)</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661475" y="1757263"/>
            <a:ext cx="10868745" cy="516731"/>
          </a:xfrm>
          <a:prstGeom prst="rect">
            <a:avLst/>
          </a:prstGeom>
          <a:noFill/>
          <a:ln/>
        </p:spPr>
        <p:txBody>
          <a:bodyPr wrap="none" lIns="0" tIns="0" rIns="0" bIns="0" rtlCol="0" anchor="t"/>
          <a:lstStyle/>
          <a:p>
            <a:pPr marL="0" indent="0" algn="l">
              <a:lnSpc>
                <a:spcPct val="104000"/>
              </a:lnSpc>
              <a:buNone/>
            </a:pPr>
            <a:r>
              <a:rPr lang="en-US" sz="3250" b="1" dirty="0">
                <a:solidFill>
                  <a:srgbClr val="000000"/>
                </a:solidFill>
                <a:latin typeface="PT Sans Bold" pitchFamily="34" charset="0"/>
                <a:ea typeface="PT Sans Bold" pitchFamily="34" charset="-122"/>
                <a:cs typeface="PT Sans Bold" pitchFamily="34" charset="-120"/>
              </a:rPr>
              <a:t>Perhitungan Bayes: Alergi dan Jerawat</a:t>
            </a:r>
            <a:endParaRPr lang="en-US" sz="3250" dirty="0"/>
          </a:p>
        </p:txBody>
      </p:sp>
      <p:sp>
        <p:nvSpPr>
          <p:cNvPr id="3" name="Text 1"/>
          <p:cNvSpPr/>
          <p:nvPr/>
        </p:nvSpPr>
        <p:spPr>
          <a:xfrm>
            <a:off x="661475" y="2687340"/>
            <a:ext cx="5232666" cy="258465"/>
          </a:xfrm>
          <a:prstGeom prst="rect">
            <a:avLst/>
          </a:prstGeom>
          <a:noFill/>
          <a:ln/>
        </p:spPr>
        <p:txBody>
          <a:bodyPr wrap="none" lIns="0" tIns="0" rIns="0" bIns="0" rtlCol="0" anchor="t"/>
          <a:lstStyle/>
          <a:p>
            <a:pPr marL="0" indent="0" algn="l">
              <a:lnSpc>
                <a:spcPct val="104000"/>
              </a:lnSpc>
              <a:buNone/>
            </a:pPr>
            <a:r>
              <a:rPr lang="en-US" sz="1600" b="1" dirty="0">
                <a:solidFill>
                  <a:srgbClr val="000000"/>
                </a:solidFill>
                <a:latin typeface="PT Sans Bold" pitchFamily="34" charset="0"/>
                <a:ea typeface="PT Sans Bold" pitchFamily="34" charset="-122"/>
                <a:cs typeface="PT Sans Bold" pitchFamily="34" charset="-120"/>
              </a:rPr>
              <a:t>Probabilitas Alergi</a:t>
            </a:r>
            <a:endParaRPr lang="en-US" sz="1600" dirty="0"/>
          </a:p>
        </p:txBody>
      </p:sp>
      <p:pic>
        <p:nvPicPr>
          <p:cNvPr id="4" name="Image 0" descr="preencoded.png"/>
          <p:cNvPicPr>
            <a:picLocks noChangeAspect="1"/>
          </p:cNvPicPr>
          <p:nvPr/>
        </p:nvPicPr>
        <p:blipFill>
          <a:blip r:embed="rId3"/>
          <a:stretch>
            <a:fillRect/>
          </a:stretch>
        </p:blipFill>
        <p:spPr>
          <a:xfrm>
            <a:off x="661475" y="3155057"/>
            <a:ext cx="5232666" cy="475655"/>
          </a:xfrm>
          <a:prstGeom prst="rect">
            <a:avLst/>
          </a:prstGeom>
        </p:spPr>
      </p:pic>
      <p:sp>
        <p:nvSpPr>
          <p:cNvPr id="5" name="Text 2"/>
          <p:cNvSpPr/>
          <p:nvPr/>
        </p:nvSpPr>
        <p:spPr>
          <a:xfrm>
            <a:off x="661475" y="3839964"/>
            <a:ext cx="5842251" cy="264616"/>
          </a:xfrm>
          <a:prstGeom prst="rect">
            <a:avLst/>
          </a:prstGeom>
          <a:noFill/>
          <a:ln/>
        </p:spPr>
        <p:txBody>
          <a:bodyPr wrap="none" lIns="0" tIns="0" rIns="0" bIns="0" rtlCol="0" anchor="t"/>
          <a:lstStyle/>
          <a:p>
            <a:pPr marL="0" indent="0" algn="l">
              <a:lnSpc>
                <a:spcPct val="133000"/>
              </a:lnSpc>
              <a:buNone/>
            </a:pPr>
            <a:r>
              <a:rPr lang="en-US" sz="1300" dirty="0">
                <a:solidFill>
                  <a:srgbClr val="000000"/>
                </a:solidFill>
                <a:latin typeface="PT Sans" pitchFamily="34" charset="0"/>
                <a:ea typeface="PT Sans" pitchFamily="34" charset="-122"/>
                <a:cs typeface="PT Sans" pitchFamily="34" charset="-120"/>
              </a:rPr>
              <a:t>Kemungkinan alergi: </a:t>
            </a:r>
            <a:r>
              <a:rPr lang="en-US" sz="1300" b="1" dirty="0">
                <a:solidFill>
                  <a:srgbClr val="000000"/>
                </a:solidFill>
                <a:latin typeface="PT Sans Bold" pitchFamily="34" charset="0"/>
                <a:ea typeface="PT Sans Bold" pitchFamily="34" charset="-122"/>
                <a:cs typeface="PT Sans Bold" pitchFamily="34" charset="-120"/>
              </a:rPr>
              <a:t>21.4%</a:t>
            </a:r>
            <a:endParaRPr lang="en-US" sz="1300" dirty="0"/>
          </a:p>
        </p:txBody>
      </p:sp>
      <p:sp>
        <p:nvSpPr>
          <p:cNvPr id="6" name="Text 3"/>
          <p:cNvSpPr/>
          <p:nvPr/>
        </p:nvSpPr>
        <p:spPr>
          <a:xfrm>
            <a:off x="6303904" y="2687340"/>
            <a:ext cx="5232666" cy="258465"/>
          </a:xfrm>
          <a:prstGeom prst="rect">
            <a:avLst/>
          </a:prstGeom>
          <a:noFill/>
          <a:ln/>
        </p:spPr>
        <p:txBody>
          <a:bodyPr wrap="none" lIns="0" tIns="0" rIns="0" bIns="0" rtlCol="0" anchor="t"/>
          <a:lstStyle/>
          <a:p>
            <a:pPr marL="0" indent="0" algn="l">
              <a:lnSpc>
                <a:spcPct val="104000"/>
              </a:lnSpc>
              <a:buNone/>
            </a:pPr>
            <a:r>
              <a:rPr lang="en-US" sz="1600" b="1" dirty="0">
                <a:solidFill>
                  <a:srgbClr val="000000"/>
                </a:solidFill>
                <a:latin typeface="PT Sans Bold" pitchFamily="34" charset="0"/>
                <a:ea typeface="PT Sans Bold" pitchFamily="34" charset="-122"/>
                <a:cs typeface="PT Sans Bold" pitchFamily="34" charset="-120"/>
              </a:rPr>
              <a:t>Probabilitas Jerawat</a:t>
            </a:r>
            <a:endParaRPr lang="en-US" sz="1600" dirty="0"/>
          </a:p>
        </p:txBody>
      </p:sp>
      <p:pic>
        <p:nvPicPr>
          <p:cNvPr id="7" name="Image 1" descr="preencoded.png"/>
          <p:cNvPicPr>
            <a:picLocks noChangeAspect="1"/>
          </p:cNvPicPr>
          <p:nvPr/>
        </p:nvPicPr>
        <p:blipFill>
          <a:blip r:embed="rId4"/>
          <a:stretch>
            <a:fillRect/>
          </a:stretch>
        </p:blipFill>
        <p:spPr>
          <a:xfrm>
            <a:off x="6303904" y="3155057"/>
            <a:ext cx="5232666" cy="475655"/>
          </a:xfrm>
          <a:prstGeom prst="rect">
            <a:avLst/>
          </a:prstGeom>
        </p:spPr>
      </p:pic>
      <p:sp>
        <p:nvSpPr>
          <p:cNvPr id="8" name="Text 4"/>
          <p:cNvSpPr/>
          <p:nvPr/>
        </p:nvSpPr>
        <p:spPr>
          <a:xfrm>
            <a:off x="6303904" y="3839964"/>
            <a:ext cx="5842251" cy="264616"/>
          </a:xfrm>
          <a:prstGeom prst="rect">
            <a:avLst/>
          </a:prstGeom>
          <a:noFill/>
          <a:ln/>
        </p:spPr>
        <p:txBody>
          <a:bodyPr wrap="none" lIns="0" tIns="0" rIns="0" bIns="0" rtlCol="0" anchor="t"/>
          <a:lstStyle/>
          <a:p>
            <a:pPr marL="0" indent="0" algn="l">
              <a:lnSpc>
                <a:spcPct val="133000"/>
              </a:lnSpc>
              <a:buNone/>
            </a:pPr>
            <a:r>
              <a:rPr lang="en-US" sz="1300" dirty="0">
                <a:solidFill>
                  <a:srgbClr val="000000"/>
                </a:solidFill>
                <a:latin typeface="PT Sans" pitchFamily="34" charset="0"/>
                <a:ea typeface="PT Sans" pitchFamily="34" charset="-122"/>
                <a:cs typeface="PT Sans" pitchFamily="34" charset="-120"/>
              </a:rPr>
              <a:t>Kemungkinan jerawat: </a:t>
            </a:r>
            <a:r>
              <a:rPr lang="en-US" sz="1300" b="1" dirty="0">
                <a:solidFill>
                  <a:srgbClr val="000000"/>
                </a:solidFill>
                <a:latin typeface="PT Sans Bold" pitchFamily="34" charset="0"/>
                <a:ea typeface="PT Sans Bold" pitchFamily="34" charset="-122"/>
                <a:cs typeface="PT Sans Bold" pitchFamily="34" charset="-120"/>
              </a:rPr>
              <a:t>45.9%</a:t>
            </a:r>
            <a:endParaRPr lang="en-US" sz="1300" dirty="0"/>
          </a:p>
        </p:txBody>
      </p:sp>
      <p:sp>
        <p:nvSpPr>
          <p:cNvPr id="9" name="Shape 5"/>
          <p:cNvSpPr/>
          <p:nvPr/>
        </p:nvSpPr>
        <p:spPr>
          <a:xfrm>
            <a:off x="661475" y="4439444"/>
            <a:ext cx="10868745" cy="661293"/>
          </a:xfrm>
          <a:prstGeom prst="roundRect">
            <a:avLst>
              <a:gd name="adj" fmla="val 10504"/>
            </a:avLst>
          </a:prstGeom>
          <a:solidFill>
            <a:srgbClr val="B6FCB8"/>
          </a:solidFill>
          <a:ln/>
        </p:spPr>
      </p:sp>
      <p:pic>
        <p:nvPicPr>
          <p:cNvPr id="10" name="Image 2" descr="preencoded.png"/>
          <p:cNvPicPr>
            <a:picLocks noChangeAspect="1"/>
          </p:cNvPicPr>
          <p:nvPr/>
        </p:nvPicPr>
        <p:blipFill>
          <a:blip r:embed="rId5"/>
          <a:stretch>
            <a:fillRect/>
          </a:stretch>
        </p:blipFill>
        <p:spPr>
          <a:xfrm>
            <a:off x="826769" y="4679156"/>
            <a:ext cx="206667" cy="165298"/>
          </a:xfrm>
          <a:prstGeom prst="rect">
            <a:avLst/>
          </a:prstGeom>
        </p:spPr>
      </p:pic>
      <p:sp>
        <p:nvSpPr>
          <p:cNvPr id="11" name="Text 6"/>
          <p:cNvSpPr/>
          <p:nvPr/>
        </p:nvSpPr>
        <p:spPr>
          <a:xfrm>
            <a:off x="1198731" y="4646017"/>
            <a:ext cx="10775780" cy="264616"/>
          </a:xfrm>
          <a:prstGeom prst="rect">
            <a:avLst/>
          </a:prstGeom>
          <a:noFill/>
          <a:ln/>
        </p:spPr>
        <p:txBody>
          <a:bodyPr wrap="none" lIns="0" tIns="0" rIns="0" bIns="0" rtlCol="0" anchor="t"/>
          <a:lstStyle/>
          <a:p>
            <a:pPr marL="0" indent="0" algn="l">
              <a:lnSpc>
                <a:spcPct val="133000"/>
              </a:lnSpc>
              <a:buNone/>
            </a:pPr>
            <a:r>
              <a:rPr lang="en-US" sz="1300" dirty="0">
                <a:solidFill>
                  <a:srgbClr val="000000"/>
                </a:solidFill>
                <a:latin typeface="PT Sans" pitchFamily="34" charset="0"/>
                <a:ea typeface="PT Sans" pitchFamily="34" charset="-122"/>
                <a:cs typeface="PT Sans" pitchFamily="34" charset="-120"/>
              </a:rPr>
              <a:t>Kesimpulan: Probabilitas tertinggi adalah </a:t>
            </a:r>
            <a:r>
              <a:rPr lang="en-US" sz="1300" b="1" dirty="0">
                <a:solidFill>
                  <a:srgbClr val="000000"/>
                </a:solidFill>
                <a:latin typeface="PT Sans Bold" pitchFamily="34" charset="0"/>
                <a:ea typeface="PT Sans Bold" pitchFamily="34" charset="-122"/>
                <a:cs typeface="PT Sans Bold" pitchFamily="34" charset="-120"/>
              </a:rPr>
              <a:t>jerawat (45.9%)</a:t>
            </a:r>
            <a:r>
              <a:rPr lang="en-US" sz="1300" dirty="0">
                <a:solidFill>
                  <a:srgbClr val="000000"/>
                </a:solidFill>
                <a:latin typeface="PT Sans" pitchFamily="34" charset="0"/>
                <a:ea typeface="PT Sans" pitchFamily="34" charset="-122"/>
                <a:cs typeface="PT Sans" pitchFamily="34" charset="-120"/>
              </a:rPr>
              <a:t>, diikuti cacar (32.7%) dan alergi (21.4%).</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661475" y="454819"/>
            <a:ext cx="10868745" cy="258465"/>
          </a:xfrm>
          <a:prstGeom prst="rect">
            <a:avLst/>
          </a:prstGeom>
          <a:noFill/>
          <a:ln/>
        </p:spPr>
        <p:txBody>
          <a:bodyPr wrap="none" lIns="0" tIns="0" rIns="0" bIns="0" rtlCol="0" anchor="t"/>
          <a:lstStyle/>
          <a:p>
            <a:pPr marL="0" indent="0" algn="l">
              <a:lnSpc>
                <a:spcPct val="104000"/>
              </a:lnSpc>
              <a:buNone/>
            </a:pPr>
            <a:r>
              <a:rPr lang="en-US" sz="1600" b="1" dirty="0">
                <a:solidFill>
                  <a:srgbClr val="000000"/>
                </a:solidFill>
                <a:latin typeface="PT Sans Bold" pitchFamily="34" charset="0"/>
                <a:ea typeface="PT Sans Bold" pitchFamily="34" charset="-122"/>
                <a:cs typeface="PT Sans Bold" pitchFamily="34" charset="-120"/>
              </a:rPr>
              <a:t>Ringkasan Hasil Bayes: Kasus Asih</a:t>
            </a:r>
            <a:endParaRPr lang="en-US" sz="1600" dirty="0"/>
          </a:p>
        </p:txBody>
      </p:sp>
      <p:pic>
        <p:nvPicPr>
          <p:cNvPr id="3" name="Image 0" descr="preencoded.png"/>
          <p:cNvPicPr>
            <a:picLocks noChangeAspect="1"/>
          </p:cNvPicPr>
          <p:nvPr/>
        </p:nvPicPr>
        <p:blipFill>
          <a:blip r:embed="rId3"/>
          <a:stretch>
            <a:fillRect/>
          </a:stretch>
        </p:blipFill>
        <p:spPr>
          <a:xfrm>
            <a:off x="661475" y="795933"/>
            <a:ext cx="10868745" cy="6086574"/>
          </a:xfrm>
          <a:prstGeom prst="rect">
            <a:avLst/>
          </a:prstGeom>
        </p:spPr>
      </p:pic>
      <p:sp>
        <p:nvSpPr>
          <p:cNvPr id="4" name="Text 1"/>
          <p:cNvSpPr/>
          <p:nvPr/>
        </p:nvSpPr>
        <p:spPr>
          <a:xfrm>
            <a:off x="661475" y="6928941"/>
            <a:ext cx="11478330" cy="99120"/>
          </a:xfrm>
          <a:prstGeom prst="rect">
            <a:avLst/>
          </a:prstGeom>
          <a:noFill/>
          <a:ln/>
        </p:spPr>
        <p:txBody>
          <a:bodyPr wrap="none" lIns="0" tIns="0" rIns="0" bIns="0" rtlCol="0" anchor="t"/>
          <a:lstStyle/>
          <a:p>
            <a:pPr marL="0" indent="0" algn="l">
              <a:lnSpc>
                <a:spcPct val="100000"/>
              </a:lnSpc>
              <a:buNone/>
            </a:pPr>
            <a:r>
              <a:rPr lang="en-US" sz="650" dirty="0">
                <a:solidFill>
                  <a:srgbClr val="000000"/>
                </a:solidFill>
                <a:latin typeface="PT Sans" pitchFamily="34" charset="0"/>
                <a:ea typeface="PT Sans" pitchFamily="34" charset="-122"/>
                <a:cs typeface="PT Sans" pitchFamily="34" charset="-120"/>
              </a:rPr>
              <a:t>Berdasarkan Teorema Bayes, jerawat memiliki probabilitas tertinggi sebagai penyebab bintik-bintik di wajah Asih.</a:t>
            </a:r>
            <a:endParaRPr lang="en-US" sz="6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661475" y="1629767"/>
            <a:ext cx="10868745" cy="516731"/>
          </a:xfrm>
          <a:prstGeom prst="rect">
            <a:avLst/>
          </a:prstGeom>
          <a:noFill/>
          <a:ln/>
        </p:spPr>
        <p:txBody>
          <a:bodyPr wrap="none" lIns="0" tIns="0" rIns="0" bIns="0" rtlCol="0" anchor="t"/>
          <a:lstStyle/>
          <a:p>
            <a:pPr marL="0" indent="0" algn="l">
              <a:lnSpc>
                <a:spcPct val="104000"/>
              </a:lnSpc>
              <a:buNone/>
            </a:pPr>
            <a:r>
              <a:rPr lang="en-US" sz="3250" b="1" dirty="0">
                <a:solidFill>
                  <a:srgbClr val="000000"/>
                </a:solidFill>
                <a:latin typeface="PT Sans Bold" pitchFamily="34" charset="0"/>
                <a:ea typeface="PT Sans Bold" pitchFamily="34" charset="-122"/>
                <a:cs typeface="PT Sans Bold" pitchFamily="34" charset="-120"/>
              </a:rPr>
              <a:t>Bayes dengan Evidence Baru</a:t>
            </a:r>
            <a:endParaRPr lang="en-US" sz="3250" dirty="0"/>
          </a:p>
        </p:txBody>
      </p:sp>
      <p:sp>
        <p:nvSpPr>
          <p:cNvPr id="3" name="Text 1"/>
          <p:cNvSpPr/>
          <p:nvPr/>
        </p:nvSpPr>
        <p:spPr>
          <a:xfrm>
            <a:off x="661475" y="2477195"/>
            <a:ext cx="11478330" cy="264616"/>
          </a:xfrm>
          <a:prstGeom prst="rect">
            <a:avLst/>
          </a:prstGeom>
          <a:noFill/>
          <a:ln/>
        </p:spPr>
        <p:txBody>
          <a:bodyPr wrap="none" lIns="0" tIns="0" rIns="0" bIns="0" rtlCol="0" anchor="t"/>
          <a:lstStyle/>
          <a:p>
            <a:pPr marL="0" indent="0" algn="l">
              <a:lnSpc>
                <a:spcPct val="133000"/>
              </a:lnSpc>
              <a:buNone/>
            </a:pPr>
            <a:r>
              <a:rPr lang="en-US" sz="1300" dirty="0">
                <a:solidFill>
                  <a:srgbClr val="000000"/>
                </a:solidFill>
                <a:latin typeface="PT Sans" pitchFamily="34" charset="0"/>
                <a:ea typeface="PT Sans" pitchFamily="34" charset="-122"/>
                <a:cs typeface="PT Sans" pitchFamily="34" charset="-120"/>
              </a:rPr>
              <a:t>Jika setelah pengujian muncul satu atau lebih </a:t>
            </a:r>
            <a:r>
              <a:rPr lang="en-US" sz="1300" b="1" dirty="0">
                <a:solidFill>
                  <a:srgbClr val="000000"/>
                </a:solidFill>
                <a:latin typeface="PT Sans Bold" pitchFamily="34" charset="0"/>
                <a:ea typeface="PT Sans Bold" pitchFamily="34" charset="-122"/>
                <a:cs typeface="PT Sans Bold" pitchFamily="34" charset="-120"/>
              </a:rPr>
              <a:t>evidence baru</a:t>
            </a:r>
            <a:r>
              <a:rPr lang="en-US" sz="1300" dirty="0">
                <a:solidFill>
                  <a:srgbClr val="000000"/>
                </a:solidFill>
                <a:latin typeface="PT Sans" pitchFamily="34" charset="0"/>
                <a:ea typeface="PT Sans" pitchFamily="34" charset="-122"/>
                <a:cs typeface="PT Sans" pitchFamily="34" charset="-120"/>
              </a:rPr>
              <a:t>, maka probabilitas diperbarui menggunakan formula berikut:</a:t>
            </a:r>
            <a:endParaRPr lang="en-US" sz="1300" dirty="0"/>
          </a:p>
        </p:txBody>
      </p:sp>
      <p:pic>
        <p:nvPicPr>
          <p:cNvPr id="4" name="Image 0" descr="preencoded.png"/>
          <p:cNvPicPr>
            <a:picLocks noChangeAspect="1"/>
          </p:cNvPicPr>
          <p:nvPr/>
        </p:nvPicPr>
        <p:blipFill>
          <a:blip r:embed="rId3"/>
          <a:stretch>
            <a:fillRect/>
          </a:stretch>
        </p:blipFill>
        <p:spPr>
          <a:xfrm>
            <a:off x="661475" y="2951063"/>
            <a:ext cx="10868745" cy="532011"/>
          </a:xfrm>
          <a:prstGeom prst="rect">
            <a:avLst/>
          </a:prstGeom>
        </p:spPr>
      </p:pic>
      <p:sp>
        <p:nvSpPr>
          <p:cNvPr id="5" name="Shape 2"/>
          <p:cNvSpPr/>
          <p:nvPr/>
        </p:nvSpPr>
        <p:spPr>
          <a:xfrm>
            <a:off x="661475" y="3692327"/>
            <a:ext cx="2593216" cy="1535906"/>
          </a:xfrm>
          <a:prstGeom prst="roundRect">
            <a:avLst>
              <a:gd name="adj" fmla="val 4523"/>
            </a:avLst>
          </a:prstGeom>
          <a:solidFill>
            <a:srgbClr val="FFFFFF"/>
          </a:solidFill>
          <a:ln w="19050">
            <a:solidFill>
              <a:srgbClr val="E3D9B4"/>
            </a:solidFill>
            <a:prstDash val="solid"/>
          </a:ln>
        </p:spPr>
      </p:sp>
      <p:sp>
        <p:nvSpPr>
          <p:cNvPr id="6" name="Text 3"/>
          <p:cNvSpPr/>
          <p:nvPr/>
        </p:nvSpPr>
        <p:spPr>
          <a:xfrm>
            <a:off x="845819" y="3876675"/>
            <a:ext cx="2224528" cy="274141"/>
          </a:xfrm>
          <a:prstGeom prst="rect">
            <a:avLst/>
          </a:prstGeom>
          <a:noFill/>
          <a:ln/>
        </p:spPr>
        <p:txBody>
          <a:bodyPr wrap="none" lIns="0" tIns="0" rIns="0" bIns="0" rtlCol="0" anchor="t"/>
          <a:lstStyle/>
          <a:p>
            <a:pPr marL="0" indent="0" algn="l">
              <a:lnSpc>
                <a:spcPct val="104000"/>
              </a:lnSpc>
              <a:buNone/>
            </a:pPr>
            <a:r>
              <a:rPr lang="en-US" sz="1600" b="1" i="1" dirty="0">
                <a:solidFill>
                  <a:srgbClr val="000000"/>
                </a:solidFill>
                <a:latin typeface="PT Sans Bold" pitchFamily="34" charset="0"/>
                <a:ea typeface="PT Sans Bold" pitchFamily="34" charset="-122"/>
                <a:cs typeface="PT Sans Bold" pitchFamily="34" charset="-120"/>
              </a:rPr>
              <a:t> </a:t>
            </a:r>
            <a:endParaRPr lang="en-US" sz="1600" dirty="0"/>
          </a:p>
        </p:txBody>
      </p:sp>
      <p:pic>
        <p:nvPicPr>
          <p:cNvPr id="7" name="Image 1" descr="preencoded.png"/>
          <p:cNvPicPr>
            <a:picLocks noChangeAspect="1"/>
          </p:cNvPicPr>
          <p:nvPr/>
        </p:nvPicPr>
        <p:blipFill>
          <a:blip r:embed="rId4"/>
          <a:stretch>
            <a:fillRect/>
          </a:stretch>
        </p:blipFill>
        <p:spPr>
          <a:xfrm>
            <a:off x="845819" y="3895725"/>
            <a:ext cx="94156" cy="255091"/>
          </a:xfrm>
          <a:prstGeom prst="rect">
            <a:avLst/>
          </a:prstGeom>
        </p:spPr>
      </p:pic>
      <p:sp>
        <p:nvSpPr>
          <p:cNvPr id="8" name="Text 4"/>
          <p:cNvSpPr/>
          <p:nvPr/>
        </p:nvSpPr>
        <p:spPr>
          <a:xfrm>
            <a:off x="845819" y="4250035"/>
            <a:ext cx="2224528" cy="264616"/>
          </a:xfrm>
          <a:prstGeom prst="rect">
            <a:avLst/>
          </a:prstGeom>
          <a:noFill/>
          <a:ln/>
        </p:spPr>
        <p:txBody>
          <a:bodyPr wrap="none" lIns="0" tIns="0" rIns="0" bIns="0" rtlCol="0" anchor="t"/>
          <a:lstStyle/>
          <a:p>
            <a:pPr marL="0" indent="0" algn="l">
              <a:lnSpc>
                <a:spcPct val="133000"/>
              </a:lnSpc>
              <a:buNone/>
            </a:pPr>
            <a:r>
              <a:rPr lang="en-US" sz="1300" dirty="0">
                <a:solidFill>
                  <a:srgbClr val="000000"/>
                </a:solidFill>
                <a:latin typeface="PT Sans" pitchFamily="34" charset="0"/>
                <a:ea typeface="PT Sans" pitchFamily="34" charset="-122"/>
                <a:cs typeface="PT Sans" pitchFamily="34" charset="-120"/>
              </a:rPr>
              <a:t>Evidence lama</a:t>
            </a:r>
            <a:endParaRPr lang="en-US" sz="1300" dirty="0"/>
          </a:p>
        </p:txBody>
      </p:sp>
      <p:sp>
        <p:nvSpPr>
          <p:cNvPr id="9" name="Shape 5"/>
          <p:cNvSpPr/>
          <p:nvPr/>
        </p:nvSpPr>
        <p:spPr>
          <a:xfrm>
            <a:off x="3419985" y="3692327"/>
            <a:ext cx="2593216" cy="1535906"/>
          </a:xfrm>
          <a:prstGeom prst="roundRect">
            <a:avLst>
              <a:gd name="adj" fmla="val 4523"/>
            </a:avLst>
          </a:prstGeom>
          <a:solidFill>
            <a:srgbClr val="FFFFFF"/>
          </a:solidFill>
          <a:ln w="19050">
            <a:solidFill>
              <a:srgbClr val="E3D9B4"/>
            </a:solidFill>
            <a:prstDash val="solid"/>
          </a:ln>
        </p:spPr>
      </p:sp>
      <p:sp>
        <p:nvSpPr>
          <p:cNvPr id="10" name="Text 6"/>
          <p:cNvSpPr/>
          <p:nvPr/>
        </p:nvSpPr>
        <p:spPr>
          <a:xfrm>
            <a:off x="3604329" y="3876675"/>
            <a:ext cx="2224528" cy="274141"/>
          </a:xfrm>
          <a:prstGeom prst="rect">
            <a:avLst/>
          </a:prstGeom>
          <a:noFill/>
          <a:ln/>
        </p:spPr>
        <p:txBody>
          <a:bodyPr wrap="none" lIns="0" tIns="0" rIns="0" bIns="0" rtlCol="0" anchor="t"/>
          <a:lstStyle/>
          <a:p>
            <a:pPr marL="0" indent="0" algn="l">
              <a:lnSpc>
                <a:spcPct val="104000"/>
              </a:lnSpc>
              <a:buNone/>
            </a:pPr>
            <a:r>
              <a:rPr lang="en-US" sz="1600" b="1" i="1" dirty="0">
                <a:solidFill>
                  <a:srgbClr val="000000"/>
                </a:solidFill>
                <a:latin typeface="PT Sans Bold" pitchFamily="34" charset="0"/>
                <a:ea typeface="PT Sans Bold" pitchFamily="34" charset="-122"/>
                <a:cs typeface="PT Sans Bold" pitchFamily="34" charset="-120"/>
              </a:rPr>
              <a:t> </a:t>
            </a:r>
            <a:endParaRPr lang="en-US" sz="1600" dirty="0"/>
          </a:p>
        </p:txBody>
      </p:sp>
      <p:pic>
        <p:nvPicPr>
          <p:cNvPr id="11" name="Image 2" descr="preencoded.png"/>
          <p:cNvPicPr>
            <a:picLocks noChangeAspect="1"/>
          </p:cNvPicPr>
          <p:nvPr/>
        </p:nvPicPr>
        <p:blipFill>
          <a:blip r:embed="rId5"/>
          <a:stretch>
            <a:fillRect/>
          </a:stretch>
        </p:blipFill>
        <p:spPr>
          <a:xfrm>
            <a:off x="3604329" y="3895725"/>
            <a:ext cx="160631" cy="255091"/>
          </a:xfrm>
          <a:prstGeom prst="rect">
            <a:avLst/>
          </a:prstGeom>
        </p:spPr>
      </p:pic>
      <p:sp>
        <p:nvSpPr>
          <p:cNvPr id="12" name="Text 7"/>
          <p:cNvSpPr/>
          <p:nvPr/>
        </p:nvSpPr>
        <p:spPr>
          <a:xfrm>
            <a:off x="3604329" y="4250035"/>
            <a:ext cx="2224528" cy="264616"/>
          </a:xfrm>
          <a:prstGeom prst="rect">
            <a:avLst/>
          </a:prstGeom>
          <a:noFill/>
          <a:ln/>
        </p:spPr>
        <p:txBody>
          <a:bodyPr wrap="none" lIns="0" tIns="0" rIns="0" bIns="0" rtlCol="0" anchor="t"/>
          <a:lstStyle/>
          <a:p>
            <a:pPr marL="0" indent="0" algn="l">
              <a:lnSpc>
                <a:spcPct val="133000"/>
              </a:lnSpc>
              <a:buNone/>
            </a:pPr>
            <a:r>
              <a:rPr lang="en-US" sz="1300" dirty="0">
                <a:solidFill>
                  <a:srgbClr val="000000"/>
                </a:solidFill>
                <a:latin typeface="PT Sans" pitchFamily="34" charset="0"/>
                <a:ea typeface="PT Sans" pitchFamily="34" charset="-122"/>
                <a:cs typeface="PT Sans" pitchFamily="34" charset="-120"/>
              </a:rPr>
              <a:t>Evidence atau observasi baru</a:t>
            </a:r>
            <a:endParaRPr lang="en-US" sz="1300" dirty="0"/>
          </a:p>
        </p:txBody>
      </p:sp>
      <p:sp>
        <p:nvSpPr>
          <p:cNvPr id="13" name="Shape 8"/>
          <p:cNvSpPr/>
          <p:nvPr/>
        </p:nvSpPr>
        <p:spPr>
          <a:xfrm>
            <a:off x="6178495" y="3692327"/>
            <a:ext cx="2593216" cy="1535906"/>
          </a:xfrm>
          <a:prstGeom prst="roundRect">
            <a:avLst>
              <a:gd name="adj" fmla="val 4523"/>
            </a:avLst>
          </a:prstGeom>
          <a:solidFill>
            <a:srgbClr val="FFFFFF"/>
          </a:solidFill>
          <a:ln w="19050">
            <a:solidFill>
              <a:srgbClr val="E3D9B4"/>
            </a:solidFill>
            <a:prstDash val="solid"/>
          </a:ln>
        </p:spPr>
      </p:sp>
      <p:sp>
        <p:nvSpPr>
          <p:cNvPr id="14" name="Text 9"/>
          <p:cNvSpPr/>
          <p:nvPr/>
        </p:nvSpPr>
        <p:spPr>
          <a:xfrm>
            <a:off x="6362838" y="3876675"/>
            <a:ext cx="2224528" cy="274141"/>
          </a:xfrm>
          <a:prstGeom prst="rect">
            <a:avLst/>
          </a:prstGeom>
          <a:noFill/>
          <a:ln/>
        </p:spPr>
        <p:txBody>
          <a:bodyPr wrap="none" lIns="0" tIns="0" rIns="0" bIns="0" rtlCol="0" anchor="t"/>
          <a:lstStyle/>
          <a:p>
            <a:pPr marL="0" indent="0" algn="l">
              <a:lnSpc>
                <a:spcPct val="104000"/>
              </a:lnSpc>
              <a:buNone/>
            </a:pPr>
            <a:r>
              <a:rPr lang="en-US" sz="1600" b="1" i="1" dirty="0">
                <a:solidFill>
                  <a:srgbClr val="000000"/>
                </a:solidFill>
                <a:latin typeface="PT Sans Bold" pitchFamily="34" charset="0"/>
                <a:ea typeface="PT Sans Bold" pitchFamily="34" charset="-122"/>
                <a:cs typeface="PT Sans Bold" pitchFamily="34" charset="-120"/>
              </a:rPr>
              <a:t>     </a:t>
            </a:r>
            <a:endParaRPr lang="en-US" sz="1600" dirty="0"/>
          </a:p>
        </p:txBody>
      </p:sp>
      <p:pic>
        <p:nvPicPr>
          <p:cNvPr id="15" name="Image 3" descr="preencoded.png"/>
          <p:cNvPicPr>
            <a:picLocks noChangeAspect="1"/>
          </p:cNvPicPr>
          <p:nvPr/>
        </p:nvPicPr>
        <p:blipFill>
          <a:blip r:embed="rId6"/>
          <a:stretch>
            <a:fillRect/>
          </a:stretch>
        </p:blipFill>
        <p:spPr>
          <a:xfrm>
            <a:off x="6362838" y="3895725"/>
            <a:ext cx="843735" cy="255091"/>
          </a:xfrm>
          <a:prstGeom prst="rect">
            <a:avLst/>
          </a:prstGeom>
        </p:spPr>
      </p:pic>
      <p:sp>
        <p:nvSpPr>
          <p:cNvPr id="16" name="Text 10"/>
          <p:cNvSpPr/>
          <p:nvPr/>
        </p:nvSpPr>
        <p:spPr>
          <a:xfrm>
            <a:off x="6362838" y="4250035"/>
            <a:ext cx="2224528" cy="793849"/>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000000"/>
                </a:solidFill>
                <a:latin typeface="PT Sans" pitchFamily="34" charset="0"/>
                <a:ea typeface="PT Sans" pitchFamily="34" charset="-122"/>
                <a:cs typeface="PT Sans" pitchFamily="34" charset="-120"/>
              </a:rPr>
              <a:t>Probabilitas H benar jika muncul evidence baru E dari evidence lama e</a:t>
            </a:r>
            <a:endParaRPr lang="en-US" sz="1300" dirty="0"/>
          </a:p>
        </p:txBody>
      </p:sp>
      <p:sp>
        <p:nvSpPr>
          <p:cNvPr id="17" name="Shape 11"/>
          <p:cNvSpPr/>
          <p:nvPr/>
        </p:nvSpPr>
        <p:spPr>
          <a:xfrm>
            <a:off x="8937005" y="3692327"/>
            <a:ext cx="2593216" cy="1535906"/>
          </a:xfrm>
          <a:prstGeom prst="roundRect">
            <a:avLst>
              <a:gd name="adj" fmla="val 4523"/>
            </a:avLst>
          </a:prstGeom>
          <a:solidFill>
            <a:srgbClr val="FFFFFF"/>
          </a:solidFill>
          <a:ln w="19050">
            <a:solidFill>
              <a:srgbClr val="E3D9B4"/>
            </a:solidFill>
            <a:prstDash val="solid"/>
          </a:ln>
        </p:spPr>
      </p:sp>
      <p:sp>
        <p:nvSpPr>
          <p:cNvPr id="18" name="Text 12"/>
          <p:cNvSpPr/>
          <p:nvPr/>
        </p:nvSpPr>
        <p:spPr>
          <a:xfrm>
            <a:off x="9121348" y="3876675"/>
            <a:ext cx="2224528" cy="274141"/>
          </a:xfrm>
          <a:prstGeom prst="rect">
            <a:avLst/>
          </a:prstGeom>
          <a:noFill/>
          <a:ln/>
        </p:spPr>
        <p:txBody>
          <a:bodyPr wrap="none" lIns="0" tIns="0" rIns="0" bIns="0" rtlCol="0" anchor="t"/>
          <a:lstStyle/>
          <a:p>
            <a:pPr marL="0" indent="0" algn="l">
              <a:lnSpc>
                <a:spcPct val="104000"/>
              </a:lnSpc>
              <a:buNone/>
            </a:pPr>
            <a:r>
              <a:rPr lang="en-US" sz="1600" b="1" i="1" dirty="0">
                <a:solidFill>
                  <a:srgbClr val="000000"/>
                </a:solidFill>
                <a:latin typeface="PT Sans Bold" pitchFamily="34" charset="0"/>
                <a:ea typeface="PT Sans Bold" pitchFamily="34" charset="-122"/>
                <a:cs typeface="PT Sans Bold" pitchFamily="34" charset="-120"/>
              </a:rPr>
              <a:t>   </a:t>
            </a:r>
            <a:endParaRPr lang="en-US" sz="1600" dirty="0"/>
          </a:p>
        </p:txBody>
      </p:sp>
      <p:pic>
        <p:nvPicPr>
          <p:cNvPr id="19" name="Image 4" descr="preencoded.png"/>
          <p:cNvPicPr>
            <a:picLocks noChangeAspect="1"/>
          </p:cNvPicPr>
          <p:nvPr/>
        </p:nvPicPr>
        <p:blipFill>
          <a:blip r:embed="rId7"/>
          <a:stretch>
            <a:fillRect/>
          </a:stretch>
        </p:blipFill>
        <p:spPr>
          <a:xfrm>
            <a:off x="9121348" y="3895725"/>
            <a:ext cx="569700" cy="255091"/>
          </a:xfrm>
          <a:prstGeom prst="rect">
            <a:avLst/>
          </a:prstGeom>
        </p:spPr>
      </p:pic>
      <p:sp>
        <p:nvSpPr>
          <p:cNvPr id="20" name="Text 13"/>
          <p:cNvSpPr/>
          <p:nvPr/>
        </p:nvSpPr>
        <p:spPr>
          <a:xfrm>
            <a:off x="9121348" y="4250035"/>
            <a:ext cx="2224528"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000000"/>
                </a:solidFill>
                <a:latin typeface="PT Sans" pitchFamily="34" charset="0"/>
                <a:ea typeface="PT Sans" pitchFamily="34" charset="-122"/>
                <a:cs typeface="PT Sans" pitchFamily="34" charset="-120"/>
              </a:rPr>
              <a:t>Kaitan antara e dan E tanpa memandang hipotesis apapun</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4571886" cy="6858000"/>
          </a:xfrm>
          <a:prstGeom prst="rect">
            <a:avLst/>
          </a:prstGeom>
        </p:spPr>
      </p:pic>
      <p:pic>
        <p:nvPicPr>
          <p:cNvPr id="3" name="Image 1" descr="preencoded.png"/>
          <p:cNvPicPr>
            <a:picLocks noChangeAspect="1"/>
          </p:cNvPicPr>
          <p:nvPr/>
        </p:nvPicPr>
        <p:blipFill>
          <a:blip r:embed="rId4"/>
          <a:stretch>
            <a:fillRect/>
          </a:stretch>
        </p:blipFill>
        <p:spPr>
          <a:xfrm>
            <a:off x="1301717" y="2273300"/>
            <a:ext cx="1968451" cy="2311400"/>
          </a:xfrm>
          <a:prstGeom prst="rect">
            <a:avLst/>
          </a:prstGeom>
        </p:spPr>
      </p:pic>
      <p:sp>
        <p:nvSpPr>
          <p:cNvPr id="4" name="Text 0"/>
          <p:cNvSpPr/>
          <p:nvPr/>
        </p:nvSpPr>
        <p:spPr>
          <a:xfrm>
            <a:off x="5233360" y="2165945"/>
            <a:ext cx="6296860" cy="1033463"/>
          </a:xfrm>
          <a:prstGeom prst="rect">
            <a:avLst/>
          </a:prstGeom>
          <a:noFill/>
          <a:ln/>
        </p:spPr>
        <p:txBody>
          <a:bodyPr wrap="square" lIns="0" tIns="0" rIns="0" bIns="0" rtlCol="0" anchor="t">
            <a:normAutofit/>
          </a:bodyPr>
          <a:lstStyle/>
          <a:p>
            <a:pPr marL="0" indent="0" algn="l">
              <a:lnSpc>
                <a:spcPct val="104000"/>
              </a:lnSpc>
              <a:buNone/>
            </a:pPr>
            <a:r>
              <a:rPr lang="en-US" sz="3250" b="1" dirty="0">
                <a:solidFill>
                  <a:srgbClr val="000000"/>
                </a:solidFill>
                <a:latin typeface="PT Sans Bold" pitchFamily="34" charset="0"/>
                <a:ea typeface="PT Sans Bold" pitchFamily="34" charset="-122"/>
                <a:cs typeface="PT Sans Bold" pitchFamily="34" charset="-120"/>
              </a:rPr>
              <a:t>Diagram Hubungan: Bintik, Panas, dan Cacar</a:t>
            </a:r>
            <a:endParaRPr lang="en-US" sz="3250" dirty="0"/>
          </a:p>
        </p:txBody>
      </p:sp>
      <p:sp>
        <p:nvSpPr>
          <p:cNvPr id="5" name="Text 1"/>
          <p:cNvSpPr/>
          <p:nvPr/>
        </p:nvSpPr>
        <p:spPr>
          <a:xfrm>
            <a:off x="5233360" y="3447455"/>
            <a:ext cx="6296860" cy="1244501"/>
          </a:xfrm>
          <a:prstGeom prst="rect">
            <a:avLst/>
          </a:prstGeom>
          <a:noFill/>
          <a:ln/>
        </p:spPr>
        <p:txBody>
          <a:bodyPr wrap="square" lIns="0" tIns="0" rIns="0" bIns="0" rtlCol="0" anchor="t">
            <a:normAutofit/>
          </a:bodyPr>
          <a:lstStyle/>
          <a:p>
            <a:pPr marL="0" indent="0" algn="l">
              <a:lnSpc>
                <a:spcPct val="133000"/>
              </a:lnSpc>
              <a:spcAft>
                <a:spcPts val="1450"/>
              </a:spcAft>
              <a:buNone/>
            </a:pPr>
            <a:r>
              <a:rPr lang="en-US" sz="1300" dirty="0">
                <a:solidFill>
                  <a:srgbClr val="000000"/>
                </a:solidFill>
                <a:latin typeface="PT Sans" pitchFamily="34" charset="0"/>
                <a:ea typeface="PT Sans" pitchFamily="34" charset="-122"/>
                <a:cs typeface="PT Sans" pitchFamily="34" charset="-120"/>
              </a:rPr>
              <a:t>Observasi baru menunjukkan bahwa selain bintik-bintik di wajah, </a:t>
            </a:r>
            <a:r>
              <a:rPr lang="en-US" sz="1300" b="1" dirty="0">
                <a:solidFill>
                  <a:srgbClr val="000000"/>
                </a:solidFill>
                <a:latin typeface="PT Sans Bold" pitchFamily="34" charset="0"/>
                <a:ea typeface="PT Sans Bold" pitchFamily="34" charset="-122"/>
                <a:cs typeface="PT Sans Bold" pitchFamily="34" charset="-120"/>
              </a:rPr>
              <a:t>panas badan</a:t>
            </a:r>
            <a:r>
              <a:rPr lang="en-US" sz="1300" dirty="0">
                <a:solidFill>
                  <a:srgbClr val="000000"/>
                </a:solidFill>
                <a:latin typeface="PT Sans" pitchFamily="34" charset="0"/>
                <a:ea typeface="PT Sans" pitchFamily="34" charset="-122"/>
                <a:cs typeface="PT Sans" pitchFamily="34" charset="-120"/>
              </a:rPr>
              <a:t> juga merupakan gejala cacar. Keduanya saling berkaitan satu sama lain.</a:t>
            </a:r>
            <a:endParaRPr lang="en-US" sz="1300" dirty="0"/>
          </a:p>
          <a:p>
            <a:pPr marL="0" indent="0" algn="l">
              <a:lnSpc>
                <a:spcPct val="133000"/>
              </a:lnSpc>
              <a:buNone/>
            </a:pPr>
            <a:r>
              <a:rPr lang="en-US" sz="1300" dirty="0">
                <a:solidFill>
                  <a:srgbClr val="000000"/>
                </a:solidFill>
                <a:latin typeface="PT Sans" pitchFamily="34" charset="0"/>
                <a:ea typeface="PT Sans" pitchFamily="34" charset="-122"/>
                <a:cs typeface="PT Sans" pitchFamily="34" charset="-120"/>
              </a:rPr>
              <a:t>Diagram di atas menunjukkan hubungan kausal: bintik dan panas saling berkaitan (panah dua arah), dan keduanya mengarah ke cacar sebagai hipotesis.</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661475" y="1422698"/>
            <a:ext cx="10868745" cy="516731"/>
          </a:xfrm>
          <a:prstGeom prst="rect">
            <a:avLst/>
          </a:prstGeom>
          <a:noFill/>
          <a:ln/>
        </p:spPr>
        <p:txBody>
          <a:bodyPr wrap="none" lIns="0" tIns="0" rIns="0" bIns="0" rtlCol="0" anchor="t"/>
          <a:lstStyle/>
          <a:p>
            <a:pPr marL="0" indent="0" algn="l">
              <a:lnSpc>
                <a:spcPct val="104000"/>
              </a:lnSpc>
              <a:buNone/>
            </a:pPr>
            <a:r>
              <a:rPr lang="en-US" sz="3250" b="1" dirty="0">
                <a:solidFill>
                  <a:srgbClr val="000000"/>
                </a:solidFill>
                <a:latin typeface="PT Sans Bold" pitchFamily="34" charset="0"/>
                <a:ea typeface="PT Sans Bold" pitchFamily="34" charset="-122"/>
                <a:cs typeface="PT Sans Bold" pitchFamily="34" charset="-120"/>
              </a:rPr>
              <a:t>Perhitungan Bayes dengan Evidence Baru: Panas Badan</a:t>
            </a:r>
            <a:endParaRPr lang="en-US" sz="3250" dirty="0"/>
          </a:p>
        </p:txBody>
      </p:sp>
      <p:sp>
        <p:nvSpPr>
          <p:cNvPr id="3" name="Text 1"/>
          <p:cNvSpPr/>
          <p:nvPr/>
        </p:nvSpPr>
        <p:spPr>
          <a:xfrm>
            <a:off x="661475" y="2270125"/>
            <a:ext cx="11478330" cy="264616"/>
          </a:xfrm>
          <a:prstGeom prst="rect">
            <a:avLst/>
          </a:prstGeom>
          <a:noFill/>
          <a:ln/>
        </p:spPr>
        <p:txBody>
          <a:bodyPr wrap="none" lIns="0" tIns="0" rIns="0" bIns="0" rtlCol="0" anchor="t"/>
          <a:lstStyle/>
          <a:p>
            <a:pPr marL="0" indent="0" algn="l">
              <a:lnSpc>
                <a:spcPct val="133000"/>
              </a:lnSpc>
              <a:buNone/>
            </a:pPr>
            <a:r>
              <a:rPr lang="en-US" sz="1300" dirty="0">
                <a:solidFill>
                  <a:srgbClr val="000000"/>
                </a:solidFill>
                <a:latin typeface="PT Sans" pitchFamily="34" charset="0"/>
                <a:ea typeface="PT Sans" pitchFamily="34" charset="-122"/>
                <a:cs typeface="PT Sans" pitchFamily="34" charset="-120"/>
              </a:rPr>
              <a:t>Diketahui data tambahan untuk kasus Asih:</a:t>
            </a:r>
            <a:endParaRPr lang="en-US" sz="1300" dirty="0"/>
          </a:p>
        </p:txBody>
      </p:sp>
      <p:sp>
        <p:nvSpPr>
          <p:cNvPr id="4" name="Text 2"/>
          <p:cNvSpPr/>
          <p:nvPr/>
        </p:nvSpPr>
        <p:spPr>
          <a:xfrm>
            <a:off x="661475" y="2720777"/>
            <a:ext cx="11478330" cy="264616"/>
          </a:xfrm>
          <a:prstGeom prst="rect">
            <a:avLst/>
          </a:prstGeom>
          <a:noFill/>
          <a:ln/>
        </p:spPr>
        <p:txBody>
          <a:bodyPr wrap="none" lIns="0" tIns="0" rIns="0" bIns="0" rtlCol="0" anchor="t"/>
          <a:lstStyle/>
          <a:p>
            <a:pPr marL="264160" indent="-264160" algn="l">
              <a:lnSpc>
                <a:spcPct val="133000"/>
              </a:lnSpc>
              <a:buSzPct val="100000"/>
              <a:buChar char="•"/>
            </a:pPr>
            <a:r>
              <a:rPr lang="en-US" sz="1300" i="1" dirty="0">
                <a:solidFill>
                  <a:srgbClr val="000000"/>
                </a:solidFill>
                <a:latin typeface="PT Sans" pitchFamily="34" charset="0"/>
                <a:ea typeface="PT Sans" pitchFamily="34" charset="-122"/>
                <a:cs typeface="PT Sans" pitchFamily="34" charset="-120"/>
              </a:rPr>
              <a:t>          </a:t>
            </a:r>
            <a:r>
              <a:rPr lang="en-US" sz="1300" dirty="0">
                <a:solidFill>
                  <a:srgbClr val="000000"/>
                </a:solidFill>
                <a:latin typeface="PT Sans" pitchFamily="34" charset="0"/>
                <a:ea typeface="PT Sans" pitchFamily="34" charset="-122"/>
                <a:cs typeface="PT Sans" pitchFamily="34" charset="-120"/>
              </a:rPr>
              <a:t> — probabilitas cacar bila ada bintik</a:t>
            </a:r>
            <a:endParaRPr lang="en-US" sz="1300" dirty="0"/>
          </a:p>
        </p:txBody>
      </p:sp>
      <p:pic>
        <p:nvPicPr>
          <p:cNvPr id="5" name="Image 0" descr="preencoded.png"/>
          <p:cNvPicPr>
            <a:picLocks noChangeAspect="1"/>
          </p:cNvPicPr>
          <p:nvPr/>
        </p:nvPicPr>
        <p:blipFill>
          <a:blip r:embed="rId3"/>
          <a:stretch>
            <a:fillRect/>
          </a:stretch>
        </p:blipFill>
        <p:spPr>
          <a:xfrm>
            <a:off x="925985" y="2758877"/>
            <a:ext cx="1459769" cy="213618"/>
          </a:xfrm>
          <a:prstGeom prst="rect">
            <a:avLst/>
          </a:prstGeom>
        </p:spPr>
      </p:pic>
      <p:sp>
        <p:nvSpPr>
          <p:cNvPr id="6" name="Text 3"/>
          <p:cNvSpPr/>
          <p:nvPr/>
        </p:nvSpPr>
        <p:spPr>
          <a:xfrm>
            <a:off x="661475" y="3043238"/>
            <a:ext cx="11478330" cy="264616"/>
          </a:xfrm>
          <a:prstGeom prst="rect">
            <a:avLst/>
          </a:prstGeom>
          <a:noFill/>
          <a:ln/>
        </p:spPr>
        <p:txBody>
          <a:bodyPr wrap="none" lIns="0" tIns="0" rIns="0" bIns="0" rtlCol="0" anchor="t"/>
          <a:lstStyle/>
          <a:p>
            <a:pPr marL="264160" indent="-264160" algn="l">
              <a:lnSpc>
                <a:spcPct val="133000"/>
              </a:lnSpc>
              <a:buSzPct val="100000"/>
              <a:buChar char="•"/>
            </a:pPr>
            <a:r>
              <a:rPr lang="en-US" sz="1300" i="1" dirty="0">
                <a:solidFill>
                  <a:srgbClr val="000000"/>
                </a:solidFill>
                <a:latin typeface="PT Sans" pitchFamily="34" charset="0"/>
                <a:ea typeface="PT Sans" pitchFamily="34" charset="-122"/>
                <a:cs typeface="PT Sans" pitchFamily="34" charset="-120"/>
              </a:rPr>
              <a:t>          </a:t>
            </a:r>
            <a:r>
              <a:rPr lang="en-US" sz="1300" dirty="0">
                <a:solidFill>
                  <a:srgbClr val="000000"/>
                </a:solidFill>
                <a:latin typeface="PT Sans" pitchFamily="34" charset="0"/>
                <a:ea typeface="PT Sans" pitchFamily="34" charset="-122"/>
                <a:cs typeface="PT Sans" pitchFamily="34" charset="-120"/>
              </a:rPr>
              <a:t> — probabilitas cacar bila panas badan</a:t>
            </a:r>
            <a:endParaRPr lang="en-US" sz="1300" dirty="0"/>
          </a:p>
        </p:txBody>
      </p:sp>
      <p:pic>
        <p:nvPicPr>
          <p:cNvPr id="7" name="Image 1" descr="preencoded.png"/>
          <p:cNvPicPr>
            <a:picLocks noChangeAspect="1"/>
          </p:cNvPicPr>
          <p:nvPr/>
        </p:nvPicPr>
        <p:blipFill>
          <a:blip r:embed="rId4"/>
          <a:stretch>
            <a:fillRect/>
          </a:stretch>
        </p:blipFill>
        <p:spPr>
          <a:xfrm>
            <a:off x="925985" y="3081338"/>
            <a:ext cx="1446970" cy="213618"/>
          </a:xfrm>
          <a:prstGeom prst="rect">
            <a:avLst/>
          </a:prstGeom>
        </p:spPr>
      </p:pic>
      <p:sp>
        <p:nvSpPr>
          <p:cNvPr id="8" name="Text 4"/>
          <p:cNvSpPr/>
          <p:nvPr/>
        </p:nvSpPr>
        <p:spPr>
          <a:xfrm>
            <a:off x="661475" y="3365698"/>
            <a:ext cx="11478330" cy="264616"/>
          </a:xfrm>
          <a:prstGeom prst="rect">
            <a:avLst/>
          </a:prstGeom>
          <a:noFill/>
          <a:ln/>
        </p:spPr>
        <p:txBody>
          <a:bodyPr wrap="none" lIns="0" tIns="0" rIns="0" bIns="0" rtlCol="0" anchor="t"/>
          <a:lstStyle/>
          <a:p>
            <a:pPr marL="264160" indent="-264160" algn="l">
              <a:lnSpc>
                <a:spcPct val="133000"/>
              </a:lnSpc>
              <a:buSzPct val="100000"/>
              <a:buChar char="•"/>
            </a:pPr>
            <a:r>
              <a:rPr lang="en-US" sz="1300" i="1" dirty="0">
                <a:solidFill>
                  <a:srgbClr val="000000"/>
                </a:solidFill>
                <a:latin typeface="PT Sans" pitchFamily="34" charset="0"/>
                <a:ea typeface="PT Sans" pitchFamily="34" charset="-122"/>
                <a:cs typeface="PT Sans" pitchFamily="34" charset="-120"/>
              </a:rPr>
              <a:t>             </a:t>
            </a:r>
            <a:r>
              <a:rPr lang="en-US" sz="1300" dirty="0">
                <a:solidFill>
                  <a:srgbClr val="000000"/>
                </a:solidFill>
                <a:latin typeface="PT Sans" pitchFamily="34" charset="0"/>
                <a:ea typeface="PT Sans" pitchFamily="34" charset="-122"/>
                <a:cs typeface="PT Sans" pitchFamily="34" charset="-120"/>
              </a:rPr>
              <a:t> — kaitan bintik dan panas bila cacar</a:t>
            </a:r>
            <a:endParaRPr lang="en-US" sz="1300" dirty="0"/>
          </a:p>
        </p:txBody>
      </p:sp>
      <p:pic>
        <p:nvPicPr>
          <p:cNvPr id="9" name="Image 2" descr="preencoded.png"/>
          <p:cNvPicPr>
            <a:picLocks noChangeAspect="1"/>
          </p:cNvPicPr>
          <p:nvPr/>
        </p:nvPicPr>
        <p:blipFill>
          <a:blip r:embed="rId5"/>
          <a:stretch>
            <a:fillRect/>
          </a:stretch>
        </p:blipFill>
        <p:spPr>
          <a:xfrm>
            <a:off x="925985" y="3403798"/>
            <a:ext cx="1936404" cy="213618"/>
          </a:xfrm>
          <a:prstGeom prst="rect">
            <a:avLst/>
          </a:prstGeom>
        </p:spPr>
      </p:pic>
      <p:sp>
        <p:nvSpPr>
          <p:cNvPr id="10" name="Text 5"/>
          <p:cNvSpPr/>
          <p:nvPr/>
        </p:nvSpPr>
        <p:spPr>
          <a:xfrm>
            <a:off x="661475" y="3688159"/>
            <a:ext cx="11478330" cy="264616"/>
          </a:xfrm>
          <a:prstGeom prst="rect">
            <a:avLst/>
          </a:prstGeom>
          <a:noFill/>
          <a:ln/>
        </p:spPr>
        <p:txBody>
          <a:bodyPr wrap="none" lIns="0" tIns="0" rIns="0" bIns="0" rtlCol="0" anchor="t"/>
          <a:lstStyle/>
          <a:p>
            <a:pPr marL="264160" indent="-264160" algn="l">
              <a:lnSpc>
                <a:spcPct val="133000"/>
              </a:lnSpc>
              <a:buSzPct val="100000"/>
              <a:buChar char="•"/>
            </a:pPr>
            <a:r>
              <a:rPr lang="en-US" sz="1300" i="1" dirty="0">
                <a:solidFill>
                  <a:srgbClr val="000000"/>
                </a:solidFill>
                <a:latin typeface="PT Sans" pitchFamily="34" charset="0"/>
                <a:ea typeface="PT Sans" pitchFamily="34" charset="-122"/>
                <a:cs typeface="PT Sans" pitchFamily="34" charset="-120"/>
              </a:rPr>
              <a:t>          </a:t>
            </a:r>
            <a:r>
              <a:rPr lang="en-US" sz="1300" dirty="0">
                <a:solidFill>
                  <a:srgbClr val="000000"/>
                </a:solidFill>
                <a:latin typeface="PT Sans" pitchFamily="34" charset="0"/>
                <a:ea typeface="PT Sans" pitchFamily="34" charset="-122"/>
                <a:cs typeface="PT Sans" pitchFamily="34" charset="-120"/>
              </a:rPr>
              <a:t> — kaitan bintik dan panas</a:t>
            </a:r>
            <a:endParaRPr lang="en-US" sz="1300" dirty="0"/>
          </a:p>
        </p:txBody>
      </p:sp>
      <p:pic>
        <p:nvPicPr>
          <p:cNvPr id="11" name="Image 3" descr="preencoded.png"/>
          <p:cNvPicPr>
            <a:picLocks noChangeAspect="1"/>
          </p:cNvPicPr>
          <p:nvPr/>
        </p:nvPicPr>
        <p:blipFill>
          <a:blip r:embed="rId6"/>
          <a:stretch>
            <a:fillRect/>
          </a:stretch>
        </p:blipFill>
        <p:spPr>
          <a:xfrm>
            <a:off x="925985" y="3726259"/>
            <a:ext cx="1496281" cy="213618"/>
          </a:xfrm>
          <a:prstGeom prst="rect">
            <a:avLst/>
          </a:prstGeom>
        </p:spPr>
      </p:pic>
      <p:pic>
        <p:nvPicPr>
          <p:cNvPr id="12" name="Image 4" descr="preencoded.png"/>
          <p:cNvPicPr>
            <a:picLocks noChangeAspect="1"/>
          </p:cNvPicPr>
          <p:nvPr/>
        </p:nvPicPr>
        <p:blipFill>
          <a:blip r:embed="rId7"/>
          <a:stretch>
            <a:fillRect/>
          </a:stretch>
        </p:blipFill>
        <p:spPr>
          <a:xfrm>
            <a:off x="661475" y="4162028"/>
            <a:ext cx="10868745" cy="532011"/>
          </a:xfrm>
          <a:prstGeom prst="rect">
            <a:avLst/>
          </a:prstGeom>
        </p:spPr>
      </p:pic>
      <p:pic>
        <p:nvPicPr>
          <p:cNvPr id="13" name="Image 5" descr="preencoded.png"/>
          <p:cNvPicPr>
            <a:picLocks noChangeAspect="1"/>
          </p:cNvPicPr>
          <p:nvPr/>
        </p:nvPicPr>
        <p:blipFill>
          <a:blip r:embed="rId8"/>
          <a:stretch>
            <a:fillRect/>
          </a:stretch>
        </p:blipFill>
        <p:spPr>
          <a:xfrm>
            <a:off x="661475" y="4903291"/>
            <a:ext cx="10868745" cy="532011"/>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619809" y="0"/>
            <a:ext cx="4571886" cy="6858000"/>
          </a:xfrm>
          <a:prstGeom prst="rect">
            <a:avLst/>
          </a:prstGeom>
        </p:spPr>
      </p:pic>
      <p:sp>
        <p:nvSpPr>
          <p:cNvPr id="3" name="Text 0"/>
          <p:cNvSpPr/>
          <p:nvPr/>
        </p:nvSpPr>
        <p:spPr>
          <a:xfrm>
            <a:off x="661475" y="2391271"/>
            <a:ext cx="6296860" cy="1033463"/>
          </a:xfrm>
          <a:prstGeom prst="rect">
            <a:avLst/>
          </a:prstGeom>
          <a:noFill/>
          <a:ln/>
        </p:spPr>
        <p:txBody>
          <a:bodyPr wrap="square" lIns="0" tIns="0" rIns="0" bIns="0" rtlCol="0" anchor="t">
            <a:normAutofit/>
          </a:bodyPr>
          <a:lstStyle/>
          <a:p>
            <a:pPr marL="0" indent="0" algn="l">
              <a:lnSpc>
                <a:spcPct val="104000"/>
              </a:lnSpc>
              <a:buNone/>
            </a:pPr>
            <a:r>
              <a:rPr lang="en-US" sz="3250" b="1" dirty="0">
                <a:solidFill>
                  <a:srgbClr val="000000"/>
                </a:solidFill>
                <a:latin typeface="PT Sans Bold" pitchFamily="34" charset="0"/>
                <a:ea typeface="PT Sans Bold" pitchFamily="34" charset="-122"/>
                <a:cs typeface="PT Sans Bold" pitchFamily="34" charset="-120"/>
              </a:rPr>
              <a:t>Analogi: Memperbarui Keyakinan dengan Fakta Baru</a:t>
            </a:r>
            <a:endParaRPr lang="en-US" sz="3250" dirty="0"/>
          </a:p>
        </p:txBody>
      </p:sp>
      <p:sp>
        <p:nvSpPr>
          <p:cNvPr id="4" name="Text 1"/>
          <p:cNvSpPr/>
          <p:nvPr/>
        </p:nvSpPr>
        <p:spPr>
          <a:xfrm>
            <a:off x="661475" y="3672780"/>
            <a:ext cx="6296860" cy="793849"/>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000000"/>
                </a:solidFill>
                <a:latin typeface="PT Sans" pitchFamily="34" charset="0"/>
                <a:ea typeface="PT Sans" pitchFamily="34" charset="-122"/>
                <a:cs typeface="PT Sans" pitchFamily="34" charset="-120"/>
              </a:rPr>
              <a:t>Bayangkan seorang detektif yang awalnya menduga pelaku adalah A berdasarkan sidik jari. Ketika rekaman CCTV baru ditemukan, ia memperbarui dugaannya. Inilah cara Teorema Bayes bekerja — setiap bukti baru </a:t>
            </a:r>
            <a:r>
              <a:rPr lang="en-US" sz="1300" b="1" dirty="0">
                <a:solidFill>
                  <a:srgbClr val="F9D448"/>
                </a:solidFill>
                <a:latin typeface="PT Sans Bold" pitchFamily="34" charset="0"/>
                <a:ea typeface="PT Sans Bold" pitchFamily="34" charset="-122"/>
                <a:cs typeface="PT Sans Bold" pitchFamily="34" charset="-120"/>
              </a:rPr>
              <a:t>memperbarui probabilitas</a:t>
            </a:r>
            <a:r>
              <a:rPr lang="en-US" sz="1300" dirty="0">
                <a:solidFill>
                  <a:srgbClr val="000000"/>
                </a:solidFill>
                <a:latin typeface="PT Sans" pitchFamily="34" charset="0"/>
                <a:ea typeface="PT Sans" pitchFamily="34" charset="-122"/>
                <a:cs typeface="PT Sans" pitchFamily="34" charset="-120"/>
              </a:rPr>
              <a:t> hipotesis yang ada.</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4571886" cy="6858000"/>
          </a:xfrm>
          <a:prstGeom prst="rect">
            <a:avLst/>
          </a:prstGeom>
        </p:spPr>
      </p:pic>
      <p:sp>
        <p:nvSpPr>
          <p:cNvPr id="3" name="Shape 0"/>
          <p:cNvSpPr/>
          <p:nvPr/>
        </p:nvSpPr>
        <p:spPr>
          <a:xfrm>
            <a:off x="5233360" y="2623245"/>
            <a:ext cx="537752" cy="251420"/>
          </a:xfrm>
          <a:prstGeom prst="roundRect">
            <a:avLst>
              <a:gd name="adj" fmla="val 22103"/>
            </a:avLst>
          </a:prstGeom>
          <a:solidFill>
            <a:srgbClr val="FDF3CE"/>
          </a:solidFill>
          <a:ln/>
        </p:spPr>
      </p:sp>
      <p:sp>
        <p:nvSpPr>
          <p:cNvPr id="4" name="Text 1"/>
          <p:cNvSpPr/>
          <p:nvPr/>
        </p:nvSpPr>
        <p:spPr>
          <a:xfrm>
            <a:off x="5332577" y="2672854"/>
            <a:ext cx="948904" cy="152202"/>
          </a:xfrm>
          <a:prstGeom prst="rect">
            <a:avLst/>
          </a:prstGeom>
          <a:noFill/>
          <a:ln/>
        </p:spPr>
        <p:txBody>
          <a:bodyPr wrap="none" lIns="0" tIns="0" rIns="0" bIns="0" rtlCol="0" anchor="t"/>
          <a:lstStyle/>
          <a:p>
            <a:pPr marL="0" indent="0" algn="l">
              <a:lnSpc>
                <a:spcPct val="96000"/>
              </a:lnSpc>
              <a:buNone/>
            </a:pPr>
            <a:r>
              <a:rPr lang="en-US" sz="1000" dirty="0">
                <a:solidFill>
                  <a:srgbClr val="000000"/>
                </a:solidFill>
                <a:latin typeface="PT Sans" pitchFamily="34" charset="0"/>
                <a:ea typeface="PT Sans" pitchFamily="34" charset="-122"/>
                <a:cs typeface="PT Sans" pitchFamily="34" charset="-120"/>
              </a:rPr>
              <a:t>BAB 3</a:t>
            </a:r>
            <a:endParaRPr lang="en-US" sz="1000" dirty="0"/>
          </a:p>
        </p:txBody>
      </p:sp>
      <p:sp>
        <p:nvSpPr>
          <p:cNvPr id="5" name="Text 2"/>
          <p:cNvSpPr/>
          <p:nvPr/>
        </p:nvSpPr>
        <p:spPr>
          <a:xfrm>
            <a:off x="5233360" y="2940745"/>
            <a:ext cx="6296860" cy="516731"/>
          </a:xfrm>
          <a:prstGeom prst="rect">
            <a:avLst/>
          </a:prstGeom>
          <a:noFill/>
          <a:ln/>
        </p:spPr>
        <p:txBody>
          <a:bodyPr wrap="none" lIns="0" tIns="0" rIns="0" bIns="0" rtlCol="0" anchor="t"/>
          <a:lstStyle/>
          <a:p>
            <a:pPr marL="0" indent="0" algn="l">
              <a:lnSpc>
                <a:spcPct val="104000"/>
              </a:lnSpc>
              <a:buNone/>
            </a:pPr>
            <a:r>
              <a:rPr lang="en-US" sz="3250" b="1" dirty="0">
                <a:solidFill>
                  <a:srgbClr val="000000"/>
                </a:solidFill>
                <a:latin typeface="PT Sans Bold" pitchFamily="34" charset="0"/>
                <a:ea typeface="PT Sans Bold" pitchFamily="34" charset="-122"/>
                <a:cs typeface="PT Sans Bold" pitchFamily="34" charset="-120"/>
              </a:rPr>
              <a:t>Faktor Kepastian (Certainty Factor)</a:t>
            </a:r>
            <a:endParaRPr lang="en-US" sz="3250" dirty="0"/>
          </a:p>
        </p:txBody>
      </p:sp>
      <p:sp>
        <p:nvSpPr>
          <p:cNvPr id="6" name="Text 3"/>
          <p:cNvSpPr/>
          <p:nvPr/>
        </p:nvSpPr>
        <p:spPr>
          <a:xfrm>
            <a:off x="5233360" y="3705523"/>
            <a:ext cx="6296860"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000000"/>
                </a:solidFill>
                <a:latin typeface="PT Sans" pitchFamily="34" charset="0"/>
                <a:ea typeface="PT Sans" pitchFamily="34" charset="-122"/>
                <a:cs typeface="PT Sans" pitchFamily="34" charset="-120"/>
              </a:rPr>
              <a:t>Certainty Factor (CF) adalah metode untuk mengukur tingkat kepastian terhadap suatu fakta atau aturan dalam sistem pakar.</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661475" y="1904008"/>
            <a:ext cx="10868745" cy="516731"/>
          </a:xfrm>
          <a:prstGeom prst="rect">
            <a:avLst/>
          </a:prstGeom>
          <a:noFill/>
          <a:ln/>
        </p:spPr>
        <p:txBody>
          <a:bodyPr wrap="none" lIns="0" tIns="0" rIns="0" bIns="0" rtlCol="0" anchor="t"/>
          <a:lstStyle/>
          <a:p>
            <a:pPr marL="0" indent="0" algn="l">
              <a:lnSpc>
                <a:spcPct val="104000"/>
              </a:lnSpc>
              <a:buNone/>
            </a:pPr>
            <a:r>
              <a:rPr lang="en-US" sz="3250" b="1" dirty="0">
                <a:solidFill>
                  <a:srgbClr val="000000"/>
                </a:solidFill>
                <a:latin typeface="PT Sans Bold" pitchFamily="34" charset="0"/>
                <a:ea typeface="PT Sans Bold" pitchFamily="34" charset="-122"/>
                <a:cs typeface="PT Sans Bold" pitchFamily="34" charset="-120"/>
              </a:rPr>
              <a:t>Definisi dan Notasi Certainty Factor</a:t>
            </a:r>
            <a:endParaRPr lang="en-US" sz="3250" dirty="0"/>
          </a:p>
        </p:txBody>
      </p:sp>
      <p:sp>
        <p:nvSpPr>
          <p:cNvPr id="3" name="Text 1"/>
          <p:cNvSpPr/>
          <p:nvPr/>
        </p:nvSpPr>
        <p:spPr>
          <a:xfrm>
            <a:off x="661475" y="2751435"/>
            <a:ext cx="11478330" cy="264616"/>
          </a:xfrm>
          <a:prstGeom prst="rect">
            <a:avLst/>
          </a:prstGeom>
          <a:noFill/>
          <a:ln/>
        </p:spPr>
        <p:txBody>
          <a:bodyPr wrap="none" lIns="0" tIns="0" rIns="0" bIns="0" rtlCol="0" anchor="t"/>
          <a:lstStyle/>
          <a:p>
            <a:pPr marL="0" indent="0" algn="l">
              <a:lnSpc>
                <a:spcPct val="133000"/>
              </a:lnSpc>
              <a:buNone/>
            </a:pPr>
            <a:r>
              <a:rPr lang="en-US" sz="1300" b="1" dirty="0">
                <a:solidFill>
                  <a:srgbClr val="000000"/>
                </a:solidFill>
                <a:latin typeface="PT Sans Bold" pitchFamily="34" charset="0"/>
                <a:ea typeface="PT Sans Bold" pitchFamily="34" charset="-122"/>
                <a:cs typeface="PT Sans Bold" pitchFamily="34" charset="-120"/>
              </a:rPr>
              <a:t>Certainty Factor (CF)</a:t>
            </a:r>
            <a:r>
              <a:rPr lang="en-US" sz="1300" dirty="0">
                <a:solidFill>
                  <a:srgbClr val="000000"/>
                </a:solidFill>
                <a:latin typeface="PT Sans" pitchFamily="34" charset="0"/>
                <a:ea typeface="PT Sans" pitchFamily="34" charset="-122"/>
                <a:cs typeface="PT Sans" pitchFamily="34" charset="-120"/>
              </a:rPr>
              <a:t> menunjukkan ukuran kepastian terhadap suatu fakta atau aturan. Notasinya:</a:t>
            </a:r>
            <a:endParaRPr lang="en-US" sz="1300" dirty="0"/>
          </a:p>
        </p:txBody>
      </p:sp>
      <p:pic>
        <p:nvPicPr>
          <p:cNvPr id="4" name="Image 0" descr="preencoded.png"/>
          <p:cNvPicPr>
            <a:picLocks noChangeAspect="1"/>
          </p:cNvPicPr>
          <p:nvPr/>
        </p:nvPicPr>
        <p:blipFill>
          <a:blip r:embed="rId3"/>
          <a:stretch>
            <a:fillRect/>
          </a:stretch>
        </p:blipFill>
        <p:spPr>
          <a:xfrm>
            <a:off x="661475" y="3225304"/>
            <a:ext cx="10868745" cy="289123"/>
          </a:xfrm>
          <a:prstGeom prst="rect">
            <a:avLst/>
          </a:prstGeom>
        </p:spPr>
      </p:pic>
      <p:sp>
        <p:nvSpPr>
          <p:cNvPr id="5" name="Shape 2"/>
          <p:cNvSpPr/>
          <p:nvPr/>
        </p:nvSpPr>
        <p:spPr>
          <a:xfrm>
            <a:off x="661475" y="3723680"/>
            <a:ext cx="3512653" cy="1230213"/>
          </a:xfrm>
          <a:prstGeom prst="roundRect">
            <a:avLst>
              <a:gd name="adj" fmla="val 5647"/>
            </a:avLst>
          </a:prstGeom>
          <a:solidFill>
            <a:srgbClr val="FDF3CE"/>
          </a:solidFill>
          <a:ln w="6350">
            <a:solidFill>
              <a:srgbClr val="E3D9B4"/>
            </a:solidFill>
            <a:prstDash val="solid"/>
          </a:ln>
        </p:spPr>
      </p:sp>
      <p:sp>
        <p:nvSpPr>
          <p:cNvPr id="6" name="Text 3"/>
          <p:cNvSpPr/>
          <p:nvPr/>
        </p:nvSpPr>
        <p:spPr>
          <a:xfrm>
            <a:off x="833119" y="3895328"/>
            <a:ext cx="3169364" cy="258465"/>
          </a:xfrm>
          <a:prstGeom prst="rect">
            <a:avLst/>
          </a:prstGeom>
          <a:noFill/>
          <a:ln/>
        </p:spPr>
        <p:txBody>
          <a:bodyPr wrap="none" lIns="0" tIns="0" rIns="0" bIns="0" rtlCol="0" anchor="t"/>
          <a:lstStyle/>
          <a:p>
            <a:pPr marL="0" indent="0" algn="l">
              <a:lnSpc>
                <a:spcPct val="104000"/>
              </a:lnSpc>
              <a:buNone/>
            </a:pPr>
            <a:r>
              <a:rPr lang="en-US" sz="1600" b="1" dirty="0">
                <a:solidFill>
                  <a:srgbClr val="000000"/>
                </a:solidFill>
                <a:latin typeface="PT Sans Bold" pitchFamily="34" charset="0"/>
                <a:ea typeface="PT Sans Bold" pitchFamily="34" charset="-122"/>
                <a:cs typeface="PT Sans Bold" pitchFamily="34" charset="-120"/>
              </a:rPr>
              <a:t>CF[h,e]</a:t>
            </a:r>
            <a:endParaRPr lang="en-US" sz="1600" dirty="0"/>
          </a:p>
        </p:txBody>
      </p:sp>
      <p:sp>
        <p:nvSpPr>
          <p:cNvPr id="7" name="Text 4"/>
          <p:cNvSpPr/>
          <p:nvPr/>
        </p:nvSpPr>
        <p:spPr>
          <a:xfrm>
            <a:off x="833119" y="4253012"/>
            <a:ext cx="3169364"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000000"/>
                </a:solidFill>
                <a:latin typeface="PT Sans" pitchFamily="34" charset="0"/>
                <a:ea typeface="PT Sans" pitchFamily="34" charset="-122"/>
                <a:cs typeface="PT Sans" pitchFamily="34" charset="-120"/>
              </a:rPr>
              <a:t>Faktor kepastian hipotesis h berdasarkan evidence e</a:t>
            </a:r>
            <a:endParaRPr lang="en-US" sz="1300" dirty="0"/>
          </a:p>
        </p:txBody>
      </p:sp>
      <p:sp>
        <p:nvSpPr>
          <p:cNvPr id="8" name="Shape 5"/>
          <p:cNvSpPr/>
          <p:nvPr/>
        </p:nvSpPr>
        <p:spPr>
          <a:xfrm>
            <a:off x="4339422" y="3723680"/>
            <a:ext cx="3512752" cy="1230213"/>
          </a:xfrm>
          <a:prstGeom prst="roundRect">
            <a:avLst>
              <a:gd name="adj" fmla="val 5647"/>
            </a:avLst>
          </a:prstGeom>
          <a:solidFill>
            <a:srgbClr val="FDF3CE"/>
          </a:solidFill>
          <a:ln w="6350">
            <a:solidFill>
              <a:srgbClr val="E3D9B4"/>
            </a:solidFill>
            <a:prstDash val="solid"/>
          </a:ln>
        </p:spPr>
      </p:sp>
      <p:sp>
        <p:nvSpPr>
          <p:cNvPr id="9" name="Text 6"/>
          <p:cNvSpPr/>
          <p:nvPr/>
        </p:nvSpPr>
        <p:spPr>
          <a:xfrm>
            <a:off x="4511066" y="3895328"/>
            <a:ext cx="3169464" cy="258465"/>
          </a:xfrm>
          <a:prstGeom prst="rect">
            <a:avLst/>
          </a:prstGeom>
          <a:noFill/>
          <a:ln/>
        </p:spPr>
        <p:txBody>
          <a:bodyPr wrap="none" lIns="0" tIns="0" rIns="0" bIns="0" rtlCol="0" anchor="t"/>
          <a:lstStyle/>
          <a:p>
            <a:pPr marL="0" indent="0" algn="l">
              <a:lnSpc>
                <a:spcPct val="104000"/>
              </a:lnSpc>
              <a:buNone/>
            </a:pPr>
            <a:r>
              <a:rPr lang="en-US" sz="1600" b="1" dirty="0">
                <a:solidFill>
                  <a:srgbClr val="000000"/>
                </a:solidFill>
                <a:latin typeface="PT Sans Bold" pitchFamily="34" charset="0"/>
                <a:ea typeface="PT Sans Bold" pitchFamily="34" charset="-122"/>
                <a:cs typeface="PT Sans Bold" pitchFamily="34" charset="-120"/>
              </a:rPr>
              <a:t>MB[h,e]</a:t>
            </a:r>
            <a:endParaRPr lang="en-US" sz="1600" dirty="0"/>
          </a:p>
        </p:txBody>
      </p:sp>
      <p:sp>
        <p:nvSpPr>
          <p:cNvPr id="10" name="Text 7"/>
          <p:cNvSpPr/>
          <p:nvPr/>
        </p:nvSpPr>
        <p:spPr>
          <a:xfrm>
            <a:off x="4511066" y="4253012"/>
            <a:ext cx="3169464"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000000"/>
                </a:solidFill>
                <a:latin typeface="PT Sans" pitchFamily="34" charset="0"/>
                <a:ea typeface="PT Sans" pitchFamily="34" charset="-122"/>
                <a:cs typeface="PT Sans" pitchFamily="34" charset="-120"/>
              </a:rPr>
              <a:t>Ukuran </a:t>
            </a:r>
            <a:r>
              <a:rPr lang="en-US" sz="1300" b="1" dirty="0">
                <a:solidFill>
                  <a:srgbClr val="000000"/>
                </a:solidFill>
                <a:latin typeface="PT Sans Bold" pitchFamily="34" charset="0"/>
                <a:ea typeface="PT Sans Bold" pitchFamily="34" charset="-122"/>
                <a:cs typeface="PT Sans Bold" pitchFamily="34" charset="-120"/>
              </a:rPr>
              <a:t>kepercayaan</a:t>
            </a:r>
            <a:r>
              <a:rPr lang="en-US" sz="1300" dirty="0">
                <a:solidFill>
                  <a:srgbClr val="000000"/>
                </a:solidFill>
                <a:latin typeface="PT Sans" pitchFamily="34" charset="0"/>
                <a:ea typeface="PT Sans" pitchFamily="34" charset="-122"/>
                <a:cs typeface="PT Sans" pitchFamily="34" charset="-120"/>
              </a:rPr>
              <a:t> terhadap hipotesis h jika diberikan evidence e (0 sampai 1)</a:t>
            </a:r>
            <a:endParaRPr lang="en-US" sz="1300" dirty="0"/>
          </a:p>
        </p:txBody>
      </p:sp>
      <p:sp>
        <p:nvSpPr>
          <p:cNvPr id="11" name="Shape 8"/>
          <p:cNvSpPr/>
          <p:nvPr/>
        </p:nvSpPr>
        <p:spPr>
          <a:xfrm>
            <a:off x="8017468" y="3723680"/>
            <a:ext cx="3512653" cy="1230213"/>
          </a:xfrm>
          <a:prstGeom prst="roundRect">
            <a:avLst>
              <a:gd name="adj" fmla="val 5647"/>
            </a:avLst>
          </a:prstGeom>
          <a:solidFill>
            <a:srgbClr val="FDF3CE"/>
          </a:solidFill>
          <a:ln w="6350">
            <a:solidFill>
              <a:srgbClr val="E3D9B4"/>
            </a:solidFill>
            <a:prstDash val="solid"/>
          </a:ln>
        </p:spPr>
      </p:sp>
      <p:sp>
        <p:nvSpPr>
          <p:cNvPr id="12" name="Text 9"/>
          <p:cNvSpPr/>
          <p:nvPr/>
        </p:nvSpPr>
        <p:spPr>
          <a:xfrm>
            <a:off x="8189112" y="3895328"/>
            <a:ext cx="3169364" cy="258465"/>
          </a:xfrm>
          <a:prstGeom prst="rect">
            <a:avLst/>
          </a:prstGeom>
          <a:noFill/>
          <a:ln/>
        </p:spPr>
        <p:txBody>
          <a:bodyPr wrap="none" lIns="0" tIns="0" rIns="0" bIns="0" rtlCol="0" anchor="t"/>
          <a:lstStyle/>
          <a:p>
            <a:pPr marL="0" indent="0" algn="l">
              <a:lnSpc>
                <a:spcPct val="104000"/>
              </a:lnSpc>
              <a:buNone/>
            </a:pPr>
            <a:r>
              <a:rPr lang="en-US" sz="1600" b="1" dirty="0">
                <a:solidFill>
                  <a:srgbClr val="000000"/>
                </a:solidFill>
                <a:latin typeface="PT Sans Bold" pitchFamily="34" charset="0"/>
                <a:ea typeface="PT Sans Bold" pitchFamily="34" charset="-122"/>
                <a:cs typeface="PT Sans Bold" pitchFamily="34" charset="-120"/>
              </a:rPr>
              <a:t>MD[h,e]</a:t>
            </a:r>
            <a:endParaRPr lang="en-US" sz="1600" dirty="0"/>
          </a:p>
        </p:txBody>
      </p:sp>
      <p:sp>
        <p:nvSpPr>
          <p:cNvPr id="13" name="Text 10"/>
          <p:cNvSpPr/>
          <p:nvPr/>
        </p:nvSpPr>
        <p:spPr>
          <a:xfrm>
            <a:off x="8189112" y="4253012"/>
            <a:ext cx="3169364"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000000"/>
                </a:solidFill>
                <a:latin typeface="PT Sans" pitchFamily="34" charset="0"/>
                <a:ea typeface="PT Sans" pitchFamily="34" charset="-122"/>
                <a:cs typeface="PT Sans" pitchFamily="34" charset="-120"/>
              </a:rPr>
              <a:t>Ukuran </a:t>
            </a:r>
            <a:r>
              <a:rPr lang="en-US" sz="1300" b="1" dirty="0">
                <a:solidFill>
                  <a:srgbClr val="000000"/>
                </a:solidFill>
                <a:latin typeface="PT Sans Bold" pitchFamily="34" charset="0"/>
                <a:ea typeface="PT Sans Bold" pitchFamily="34" charset="-122"/>
                <a:cs typeface="PT Sans Bold" pitchFamily="34" charset="-120"/>
              </a:rPr>
              <a:t>ketidakpercayaan</a:t>
            </a:r>
            <a:r>
              <a:rPr lang="en-US" sz="1300" dirty="0">
                <a:solidFill>
                  <a:srgbClr val="000000"/>
                </a:solidFill>
                <a:latin typeface="PT Sans" pitchFamily="34" charset="0"/>
                <a:ea typeface="PT Sans" pitchFamily="34" charset="-122"/>
                <a:cs typeface="PT Sans" pitchFamily="34" charset="-120"/>
              </a:rPr>
              <a:t> terhadap hipotesis h jika diberikan evidence e (0 sampai 1)</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661475" y="2268736"/>
            <a:ext cx="10868745" cy="516731"/>
          </a:xfrm>
          <a:prstGeom prst="rect">
            <a:avLst/>
          </a:prstGeom>
          <a:noFill/>
          <a:ln/>
        </p:spPr>
        <p:txBody>
          <a:bodyPr wrap="none" lIns="0" tIns="0" rIns="0" bIns="0" rtlCol="0" anchor="t"/>
          <a:lstStyle/>
          <a:p>
            <a:pPr marL="0" indent="0" algn="l">
              <a:lnSpc>
                <a:spcPct val="104000"/>
              </a:lnSpc>
              <a:buNone/>
            </a:pPr>
            <a:r>
              <a:rPr lang="en-US" sz="3250" b="1" dirty="0">
                <a:solidFill>
                  <a:srgbClr val="000000"/>
                </a:solidFill>
                <a:latin typeface="PT Sans Bold" pitchFamily="34" charset="0"/>
                <a:ea typeface="PT Sans Bold" pitchFamily="34" charset="-122"/>
                <a:cs typeface="PT Sans Bold" pitchFamily="34" charset="-120"/>
              </a:rPr>
              <a:t>Tiga Hal yang Mungkin Terjadi dalam CF</a:t>
            </a:r>
            <a:endParaRPr lang="en-US" sz="3250" dirty="0"/>
          </a:p>
        </p:txBody>
      </p:sp>
      <p:sp>
        <p:nvSpPr>
          <p:cNvPr id="3" name="Shape 1"/>
          <p:cNvSpPr/>
          <p:nvPr/>
        </p:nvSpPr>
        <p:spPr>
          <a:xfrm>
            <a:off x="661475" y="3116163"/>
            <a:ext cx="372061" cy="372070"/>
          </a:xfrm>
          <a:prstGeom prst="roundRect">
            <a:avLst>
              <a:gd name="adj" fmla="val 18670"/>
            </a:avLst>
          </a:prstGeom>
          <a:solidFill>
            <a:srgbClr val="FDF3CE"/>
          </a:solidFill>
          <a:ln w="6350">
            <a:solidFill>
              <a:srgbClr val="E3D9B4"/>
            </a:solidFill>
            <a:prstDash val="solid"/>
          </a:ln>
        </p:spPr>
      </p:sp>
      <p:sp>
        <p:nvSpPr>
          <p:cNvPr id="4" name="Text 2"/>
          <p:cNvSpPr/>
          <p:nvPr/>
        </p:nvSpPr>
        <p:spPr>
          <a:xfrm>
            <a:off x="723485" y="3147169"/>
            <a:ext cx="248041" cy="310059"/>
          </a:xfrm>
          <a:prstGeom prst="rect">
            <a:avLst/>
          </a:prstGeom>
          <a:noFill/>
          <a:ln/>
        </p:spPr>
        <p:txBody>
          <a:bodyPr wrap="none" lIns="0" tIns="0" rIns="0" bIns="0" rtlCol="0" anchor="ctr"/>
          <a:lstStyle/>
          <a:p>
            <a:pPr marL="0" indent="0" algn="ctr">
              <a:lnSpc>
                <a:spcPct val="100000"/>
              </a:lnSpc>
              <a:buNone/>
            </a:pPr>
            <a:r>
              <a:rPr lang="en-US" sz="1950" b="1" dirty="0">
                <a:solidFill>
                  <a:srgbClr val="000000"/>
                </a:solidFill>
                <a:latin typeface="PT Sans Bold" pitchFamily="34" charset="0"/>
                <a:ea typeface="PT Sans Bold" pitchFamily="34" charset="-122"/>
                <a:cs typeface="PT Sans Bold" pitchFamily="34" charset="-120"/>
              </a:rPr>
              <a:t>1</a:t>
            </a:r>
            <a:endParaRPr lang="en-US" sz="1950" dirty="0"/>
          </a:p>
        </p:txBody>
      </p:sp>
      <p:sp>
        <p:nvSpPr>
          <p:cNvPr id="5" name="Text 3"/>
          <p:cNvSpPr/>
          <p:nvPr/>
        </p:nvSpPr>
        <p:spPr>
          <a:xfrm>
            <a:off x="1198830" y="3173016"/>
            <a:ext cx="2947715" cy="258465"/>
          </a:xfrm>
          <a:prstGeom prst="rect">
            <a:avLst/>
          </a:prstGeom>
          <a:noFill/>
          <a:ln/>
        </p:spPr>
        <p:txBody>
          <a:bodyPr wrap="none" lIns="0" tIns="0" rIns="0" bIns="0" rtlCol="0" anchor="t"/>
          <a:lstStyle/>
          <a:p>
            <a:pPr marL="0" indent="0" algn="l">
              <a:lnSpc>
                <a:spcPct val="104000"/>
              </a:lnSpc>
              <a:buNone/>
            </a:pPr>
            <a:r>
              <a:rPr lang="en-US" sz="1600" b="1" dirty="0">
                <a:solidFill>
                  <a:srgbClr val="000000"/>
                </a:solidFill>
                <a:latin typeface="PT Sans Bold" pitchFamily="34" charset="0"/>
                <a:ea typeface="PT Sans Bold" pitchFamily="34" charset="-122"/>
                <a:cs typeface="PT Sans Bold" pitchFamily="34" charset="-120"/>
              </a:rPr>
              <a:t>Kombinasi Evidence</a:t>
            </a:r>
            <a:endParaRPr lang="en-US" sz="1600" dirty="0"/>
          </a:p>
        </p:txBody>
      </p:sp>
      <p:sp>
        <p:nvSpPr>
          <p:cNvPr id="6" name="Text 4"/>
          <p:cNvSpPr/>
          <p:nvPr/>
        </p:nvSpPr>
        <p:spPr>
          <a:xfrm>
            <a:off x="1198830" y="3530699"/>
            <a:ext cx="2947715" cy="793849"/>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000000"/>
                </a:solidFill>
                <a:latin typeface="PT Sans" pitchFamily="34" charset="0"/>
                <a:ea typeface="PT Sans" pitchFamily="34" charset="-122"/>
                <a:cs typeface="PT Sans" pitchFamily="34" charset="-120"/>
              </a:rPr>
              <a:t>Beberapa evidence dikombinasikan untuk menentukan CF dari suatu hipotesis. (Lihat diagram a)</a:t>
            </a:r>
            <a:endParaRPr lang="en-US" sz="1300" dirty="0"/>
          </a:p>
        </p:txBody>
      </p:sp>
      <p:sp>
        <p:nvSpPr>
          <p:cNvPr id="7" name="Shape 5"/>
          <p:cNvSpPr/>
          <p:nvPr/>
        </p:nvSpPr>
        <p:spPr>
          <a:xfrm>
            <a:off x="4353213" y="3116163"/>
            <a:ext cx="372061" cy="372070"/>
          </a:xfrm>
          <a:prstGeom prst="roundRect">
            <a:avLst>
              <a:gd name="adj" fmla="val 18670"/>
            </a:avLst>
          </a:prstGeom>
          <a:solidFill>
            <a:srgbClr val="FDF3CE"/>
          </a:solidFill>
          <a:ln w="6350">
            <a:solidFill>
              <a:srgbClr val="E3D9B4"/>
            </a:solidFill>
            <a:prstDash val="solid"/>
          </a:ln>
        </p:spPr>
      </p:sp>
      <p:sp>
        <p:nvSpPr>
          <p:cNvPr id="8" name="Text 6"/>
          <p:cNvSpPr/>
          <p:nvPr/>
        </p:nvSpPr>
        <p:spPr>
          <a:xfrm>
            <a:off x="4415223" y="3147169"/>
            <a:ext cx="248041" cy="310059"/>
          </a:xfrm>
          <a:prstGeom prst="rect">
            <a:avLst/>
          </a:prstGeom>
          <a:noFill/>
          <a:ln/>
        </p:spPr>
        <p:txBody>
          <a:bodyPr wrap="none" lIns="0" tIns="0" rIns="0" bIns="0" rtlCol="0" anchor="ctr"/>
          <a:lstStyle/>
          <a:p>
            <a:pPr marL="0" indent="0" algn="ctr">
              <a:lnSpc>
                <a:spcPct val="100000"/>
              </a:lnSpc>
              <a:buNone/>
            </a:pPr>
            <a:r>
              <a:rPr lang="en-US" sz="1950" b="1" dirty="0">
                <a:solidFill>
                  <a:srgbClr val="000000"/>
                </a:solidFill>
                <a:latin typeface="PT Sans Bold" pitchFamily="34" charset="0"/>
                <a:ea typeface="PT Sans Bold" pitchFamily="34" charset="-122"/>
                <a:cs typeface="PT Sans Bold" pitchFamily="34" charset="-120"/>
              </a:rPr>
              <a:t>2</a:t>
            </a:r>
            <a:endParaRPr lang="en-US" sz="1950" dirty="0"/>
          </a:p>
        </p:txBody>
      </p:sp>
      <p:sp>
        <p:nvSpPr>
          <p:cNvPr id="9" name="Text 7"/>
          <p:cNvSpPr/>
          <p:nvPr/>
        </p:nvSpPr>
        <p:spPr>
          <a:xfrm>
            <a:off x="4890568" y="3173016"/>
            <a:ext cx="2947815" cy="258465"/>
          </a:xfrm>
          <a:prstGeom prst="rect">
            <a:avLst/>
          </a:prstGeom>
          <a:noFill/>
          <a:ln/>
        </p:spPr>
        <p:txBody>
          <a:bodyPr wrap="none" lIns="0" tIns="0" rIns="0" bIns="0" rtlCol="0" anchor="t"/>
          <a:lstStyle/>
          <a:p>
            <a:pPr marL="0" indent="0" algn="l">
              <a:lnSpc>
                <a:spcPct val="104000"/>
              </a:lnSpc>
              <a:buNone/>
            </a:pPr>
            <a:r>
              <a:rPr lang="en-US" sz="1600" b="1" dirty="0">
                <a:solidFill>
                  <a:srgbClr val="000000"/>
                </a:solidFill>
                <a:latin typeface="PT Sans Bold" pitchFamily="34" charset="0"/>
                <a:ea typeface="PT Sans Bold" pitchFamily="34" charset="-122"/>
                <a:cs typeface="PT Sans Bold" pitchFamily="34" charset="-120"/>
              </a:rPr>
              <a:t>Kombinasi Hipotesis</a:t>
            </a:r>
            <a:endParaRPr lang="en-US" sz="1600" dirty="0"/>
          </a:p>
        </p:txBody>
      </p:sp>
      <p:sp>
        <p:nvSpPr>
          <p:cNvPr id="10" name="Text 8"/>
          <p:cNvSpPr/>
          <p:nvPr/>
        </p:nvSpPr>
        <p:spPr>
          <a:xfrm>
            <a:off x="4890568" y="3530699"/>
            <a:ext cx="2947815"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000000"/>
                </a:solidFill>
                <a:latin typeface="PT Sans" pitchFamily="34" charset="0"/>
                <a:ea typeface="PT Sans" pitchFamily="34" charset="-122"/>
                <a:cs typeface="PT Sans" pitchFamily="34" charset="-120"/>
              </a:rPr>
              <a:t>Beberapa hipotesis dikombinasikan untuk menentukan CF. (Lihat diagram b)</a:t>
            </a:r>
            <a:endParaRPr lang="en-US" sz="1300" dirty="0"/>
          </a:p>
        </p:txBody>
      </p:sp>
      <p:sp>
        <p:nvSpPr>
          <p:cNvPr id="11" name="Shape 9"/>
          <p:cNvSpPr/>
          <p:nvPr/>
        </p:nvSpPr>
        <p:spPr>
          <a:xfrm>
            <a:off x="8045050" y="3116163"/>
            <a:ext cx="372061" cy="372070"/>
          </a:xfrm>
          <a:prstGeom prst="roundRect">
            <a:avLst>
              <a:gd name="adj" fmla="val 18670"/>
            </a:avLst>
          </a:prstGeom>
          <a:solidFill>
            <a:srgbClr val="FDF3CE"/>
          </a:solidFill>
          <a:ln w="6350">
            <a:solidFill>
              <a:srgbClr val="E3D9B4"/>
            </a:solidFill>
            <a:prstDash val="solid"/>
          </a:ln>
        </p:spPr>
      </p:sp>
      <p:sp>
        <p:nvSpPr>
          <p:cNvPr id="12" name="Text 10"/>
          <p:cNvSpPr/>
          <p:nvPr/>
        </p:nvSpPr>
        <p:spPr>
          <a:xfrm>
            <a:off x="8107060" y="3147169"/>
            <a:ext cx="248041" cy="310059"/>
          </a:xfrm>
          <a:prstGeom prst="rect">
            <a:avLst/>
          </a:prstGeom>
          <a:noFill/>
          <a:ln/>
        </p:spPr>
        <p:txBody>
          <a:bodyPr wrap="none" lIns="0" tIns="0" rIns="0" bIns="0" rtlCol="0" anchor="ctr"/>
          <a:lstStyle/>
          <a:p>
            <a:pPr marL="0" indent="0" algn="ctr">
              <a:lnSpc>
                <a:spcPct val="100000"/>
              </a:lnSpc>
              <a:buNone/>
            </a:pPr>
            <a:r>
              <a:rPr lang="en-US" sz="1950" b="1" dirty="0">
                <a:solidFill>
                  <a:srgbClr val="000000"/>
                </a:solidFill>
                <a:latin typeface="PT Sans Bold" pitchFamily="34" charset="0"/>
                <a:ea typeface="PT Sans Bold" pitchFamily="34" charset="-122"/>
                <a:cs typeface="PT Sans Bold" pitchFamily="34" charset="-120"/>
              </a:rPr>
              <a:t>3</a:t>
            </a:r>
            <a:endParaRPr lang="en-US" sz="1950" dirty="0"/>
          </a:p>
        </p:txBody>
      </p:sp>
      <p:sp>
        <p:nvSpPr>
          <p:cNvPr id="13" name="Text 11"/>
          <p:cNvSpPr/>
          <p:nvPr/>
        </p:nvSpPr>
        <p:spPr>
          <a:xfrm>
            <a:off x="8582406" y="3173016"/>
            <a:ext cx="2947815" cy="258465"/>
          </a:xfrm>
          <a:prstGeom prst="rect">
            <a:avLst/>
          </a:prstGeom>
          <a:noFill/>
          <a:ln/>
        </p:spPr>
        <p:txBody>
          <a:bodyPr wrap="none" lIns="0" tIns="0" rIns="0" bIns="0" rtlCol="0" anchor="t"/>
          <a:lstStyle/>
          <a:p>
            <a:pPr marL="0" indent="0" algn="l">
              <a:lnSpc>
                <a:spcPct val="104000"/>
              </a:lnSpc>
              <a:buNone/>
            </a:pPr>
            <a:r>
              <a:rPr lang="en-US" sz="1600" b="1" dirty="0">
                <a:solidFill>
                  <a:srgbClr val="000000"/>
                </a:solidFill>
                <a:latin typeface="PT Sans Bold" pitchFamily="34" charset="0"/>
                <a:ea typeface="PT Sans Bold" pitchFamily="34" charset="-122"/>
                <a:cs typeface="PT Sans Bold" pitchFamily="34" charset="-120"/>
              </a:rPr>
              <a:t>Aturan Bergandengan</a:t>
            </a:r>
            <a:endParaRPr lang="en-US" sz="1600" dirty="0"/>
          </a:p>
        </p:txBody>
      </p:sp>
      <p:sp>
        <p:nvSpPr>
          <p:cNvPr id="14" name="Text 12"/>
          <p:cNvSpPr/>
          <p:nvPr/>
        </p:nvSpPr>
        <p:spPr>
          <a:xfrm>
            <a:off x="8582406" y="3530699"/>
            <a:ext cx="2947815" cy="1058466"/>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000000"/>
                </a:solidFill>
                <a:latin typeface="PT Sans" pitchFamily="34" charset="0"/>
                <a:ea typeface="PT Sans" pitchFamily="34" charset="-122"/>
                <a:cs typeface="PT Sans" pitchFamily="34" charset="-120"/>
              </a:rPr>
              <a:t>Beberapa aturan saling bergandengan — ketidakpastian suatu aturan menjadi input untuk aturan lainnya. (Lihat diagram c)</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661475" y="575072"/>
            <a:ext cx="10868745" cy="516731"/>
          </a:xfrm>
          <a:prstGeom prst="rect">
            <a:avLst/>
          </a:prstGeom>
          <a:noFill/>
          <a:ln/>
        </p:spPr>
        <p:txBody>
          <a:bodyPr wrap="none" lIns="0" tIns="0" rIns="0" bIns="0" rtlCol="0" anchor="t"/>
          <a:lstStyle/>
          <a:p>
            <a:pPr marL="0" indent="0" algn="l">
              <a:lnSpc>
                <a:spcPct val="104000"/>
              </a:lnSpc>
              <a:buNone/>
            </a:pPr>
            <a:r>
              <a:rPr lang="en-US" sz="3250" b="1" dirty="0">
                <a:solidFill>
                  <a:srgbClr val="000000"/>
                </a:solidFill>
                <a:latin typeface="PT Sans Bold" pitchFamily="34" charset="0"/>
                <a:ea typeface="PT Sans Bold" pitchFamily="34" charset="-122"/>
                <a:cs typeface="PT Sans Bold" pitchFamily="34" charset="-120"/>
              </a:rPr>
              <a:t>Diagram: Tiga Skenario CF</a:t>
            </a:r>
            <a:endParaRPr lang="en-US" sz="3250" dirty="0"/>
          </a:p>
        </p:txBody>
      </p:sp>
      <p:sp>
        <p:nvSpPr>
          <p:cNvPr id="3" name="Text 1"/>
          <p:cNvSpPr/>
          <p:nvPr/>
        </p:nvSpPr>
        <p:spPr>
          <a:xfrm>
            <a:off x="661475" y="1505148"/>
            <a:ext cx="5232666" cy="258465"/>
          </a:xfrm>
          <a:prstGeom prst="rect">
            <a:avLst/>
          </a:prstGeom>
          <a:noFill/>
          <a:ln/>
        </p:spPr>
        <p:txBody>
          <a:bodyPr wrap="none" lIns="0" tIns="0" rIns="0" bIns="0" rtlCol="0" anchor="t"/>
          <a:lstStyle/>
          <a:p>
            <a:pPr marL="0" indent="0" algn="l">
              <a:lnSpc>
                <a:spcPct val="104000"/>
              </a:lnSpc>
              <a:buNone/>
            </a:pPr>
            <a:r>
              <a:rPr lang="en-US" sz="1600" b="1" dirty="0">
                <a:solidFill>
                  <a:srgbClr val="000000"/>
                </a:solidFill>
                <a:latin typeface="PT Sans Bold" pitchFamily="34" charset="0"/>
                <a:ea typeface="PT Sans Bold" pitchFamily="34" charset="-122"/>
                <a:cs typeface="PT Sans Bold" pitchFamily="34" charset="-120"/>
              </a:rPr>
              <a:t>Diagram (a): Kombinasi Evidence</a:t>
            </a:r>
            <a:endParaRPr lang="en-US" sz="1600" dirty="0"/>
          </a:p>
        </p:txBody>
      </p:sp>
      <p:pic>
        <p:nvPicPr>
          <p:cNvPr id="4" name="Image 0" descr="preencoded.png"/>
          <p:cNvPicPr>
            <a:picLocks noChangeAspect="1"/>
          </p:cNvPicPr>
          <p:nvPr/>
        </p:nvPicPr>
        <p:blipFill>
          <a:blip r:embed="rId3"/>
          <a:stretch>
            <a:fillRect/>
          </a:stretch>
        </p:blipFill>
        <p:spPr>
          <a:xfrm>
            <a:off x="661475" y="1949648"/>
            <a:ext cx="3134440" cy="3733701"/>
          </a:xfrm>
          <a:prstGeom prst="rect">
            <a:avLst/>
          </a:prstGeom>
        </p:spPr>
      </p:pic>
      <p:sp>
        <p:nvSpPr>
          <p:cNvPr id="5" name="Text 2"/>
          <p:cNvSpPr/>
          <p:nvPr/>
        </p:nvSpPr>
        <p:spPr>
          <a:xfrm>
            <a:off x="661475" y="5869384"/>
            <a:ext cx="5842251" cy="264616"/>
          </a:xfrm>
          <a:prstGeom prst="rect">
            <a:avLst/>
          </a:prstGeom>
          <a:noFill/>
          <a:ln/>
        </p:spPr>
        <p:txBody>
          <a:bodyPr wrap="none" lIns="0" tIns="0" rIns="0" bIns="0" rtlCol="0" anchor="t"/>
          <a:lstStyle/>
          <a:p>
            <a:pPr marL="0" indent="0" algn="l">
              <a:lnSpc>
                <a:spcPct val="133000"/>
              </a:lnSpc>
              <a:buNone/>
            </a:pPr>
            <a:r>
              <a:rPr lang="en-US" sz="1300" dirty="0">
                <a:solidFill>
                  <a:srgbClr val="000000"/>
                </a:solidFill>
                <a:latin typeface="PT Sans" pitchFamily="34" charset="0"/>
                <a:ea typeface="PT Sans" pitchFamily="34" charset="-122"/>
                <a:cs typeface="PT Sans" pitchFamily="34" charset="-120"/>
              </a:rPr>
              <a:t>Evidence e1 dan e2 keduanya mengarah ke hipotesis h.</a:t>
            </a:r>
            <a:endParaRPr lang="en-US" sz="1300" dirty="0"/>
          </a:p>
        </p:txBody>
      </p:sp>
      <p:sp>
        <p:nvSpPr>
          <p:cNvPr id="6" name="Text 3"/>
          <p:cNvSpPr/>
          <p:nvPr/>
        </p:nvSpPr>
        <p:spPr>
          <a:xfrm>
            <a:off x="6303904" y="1505148"/>
            <a:ext cx="5232666" cy="258465"/>
          </a:xfrm>
          <a:prstGeom prst="rect">
            <a:avLst/>
          </a:prstGeom>
          <a:noFill/>
          <a:ln/>
        </p:spPr>
        <p:txBody>
          <a:bodyPr wrap="none" lIns="0" tIns="0" rIns="0" bIns="0" rtlCol="0" anchor="t"/>
          <a:lstStyle/>
          <a:p>
            <a:pPr marL="0" indent="0" algn="l">
              <a:lnSpc>
                <a:spcPct val="104000"/>
              </a:lnSpc>
              <a:buNone/>
            </a:pPr>
            <a:r>
              <a:rPr lang="en-US" sz="1600" b="1" dirty="0">
                <a:solidFill>
                  <a:srgbClr val="000000"/>
                </a:solidFill>
                <a:latin typeface="PT Sans Bold" pitchFamily="34" charset="0"/>
                <a:ea typeface="PT Sans Bold" pitchFamily="34" charset="-122"/>
                <a:cs typeface="PT Sans Bold" pitchFamily="34" charset="-120"/>
              </a:rPr>
              <a:t>Diagram (c): Aturan Bergandengan</a:t>
            </a:r>
            <a:endParaRPr lang="en-US" sz="1600" dirty="0"/>
          </a:p>
        </p:txBody>
      </p:sp>
      <p:pic>
        <p:nvPicPr>
          <p:cNvPr id="7" name="Image 1" descr="preencoded.png"/>
          <p:cNvPicPr>
            <a:picLocks noChangeAspect="1"/>
          </p:cNvPicPr>
          <p:nvPr/>
        </p:nvPicPr>
        <p:blipFill>
          <a:blip r:embed="rId4"/>
          <a:stretch>
            <a:fillRect/>
          </a:stretch>
        </p:blipFill>
        <p:spPr>
          <a:xfrm>
            <a:off x="6303904" y="1949648"/>
            <a:ext cx="590138" cy="3733602"/>
          </a:xfrm>
          <a:prstGeom prst="rect">
            <a:avLst/>
          </a:prstGeom>
        </p:spPr>
      </p:pic>
      <p:sp>
        <p:nvSpPr>
          <p:cNvPr id="8" name="Text 4"/>
          <p:cNvSpPr/>
          <p:nvPr/>
        </p:nvSpPr>
        <p:spPr>
          <a:xfrm>
            <a:off x="6303904" y="5869285"/>
            <a:ext cx="5842251" cy="264616"/>
          </a:xfrm>
          <a:prstGeom prst="rect">
            <a:avLst/>
          </a:prstGeom>
          <a:noFill/>
          <a:ln/>
        </p:spPr>
        <p:txBody>
          <a:bodyPr wrap="none" lIns="0" tIns="0" rIns="0" bIns="0" rtlCol="0" anchor="t"/>
          <a:lstStyle/>
          <a:p>
            <a:pPr marL="0" indent="0" algn="l">
              <a:lnSpc>
                <a:spcPct val="133000"/>
              </a:lnSpc>
              <a:buNone/>
            </a:pPr>
            <a:r>
              <a:rPr lang="en-US" sz="1300" dirty="0">
                <a:solidFill>
                  <a:srgbClr val="000000"/>
                </a:solidFill>
                <a:latin typeface="PT Sans" pitchFamily="34" charset="0"/>
                <a:ea typeface="PT Sans" pitchFamily="34" charset="-122"/>
                <a:cs typeface="PT Sans" pitchFamily="34" charset="-120"/>
              </a:rPr>
              <a:t>Node A → B → C: output satu aturan menjadi input aturan berikutnya.</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661475" y="1988344"/>
            <a:ext cx="10868745" cy="516731"/>
          </a:xfrm>
          <a:prstGeom prst="rect">
            <a:avLst/>
          </a:prstGeom>
          <a:noFill/>
          <a:ln/>
        </p:spPr>
        <p:txBody>
          <a:bodyPr wrap="none" lIns="0" tIns="0" rIns="0" bIns="0" rtlCol="0" anchor="t"/>
          <a:lstStyle/>
          <a:p>
            <a:pPr marL="0" indent="0" algn="l">
              <a:lnSpc>
                <a:spcPct val="104000"/>
              </a:lnSpc>
              <a:buNone/>
            </a:pPr>
            <a:r>
              <a:rPr lang="en-US" sz="3250" b="1" dirty="0">
                <a:solidFill>
                  <a:srgbClr val="000000"/>
                </a:solidFill>
                <a:latin typeface="PT Sans Bold" pitchFamily="34" charset="0"/>
                <a:ea typeface="PT Sans Bold" pitchFamily="34" charset="-122"/>
                <a:cs typeface="PT Sans Bold" pitchFamily="34" charset="-120"/>
              </a:rPr>
              <a:t>Formula CF: Kombinasi Beberapa Evidence</a:t>
            </a:r>
            <a:endParaRPr lang="en-US" sz="3250" dirty="0"/>
          </a:p>
        </p:txBody>
      </p:sp>
      <p:sp>
        <p:nvSpPr>
          <p:cNvPr id="3" name="Text 1"/>
          <p:cNvSpPr/>
          <p:nvPr/>
        </p:nvSpPr>
        <p:spPr>
          <a:xfrm>
            <a:off x="661475" y="2835771"/>
            <a:ext cx="11478330" cy="264616"/>
          </a:xfrm>
          <a:prstGeom prst="rect">
            <a:avLst/>
          </a:prstGeom>
          <a:noFill/>
          <a:ln/>
        </p:spPr>
        <p:txBody>
          <a:bodyPr wrap="none" lIns="0" tIns="0" rIns="0" bIns="0" rtlCol="0" anchor="t"/>
          <a:lstStyle/>
          <a:p>
            <a:pPr marL="0" indent="0" algn="l">
              <a:lnSpc>
                <a:spcPct val="133000"/>
              </a:lnSpc>
              <a:buNone/>
            </a:pPr>
            <a:r>
              <a:rPr lang="en-US" sz="1300" dirty="0">
                <a:solidFill>
                  <a:srgbClr val="000000"/>
                </a:solidFill>
                <a:latin typeface="PT Sans" pitchFamily="34" charset="0"/>
                <a:ea typeface="PT Sans" pitchFamily="34" charset="-122"/>
                <a:cs typeface="PT Sans" pitchFamily="34" charset="-120"/>
              </a:rPr>
              <a:t>Jika e1 dan e2 adalah observasi yang mengarah ke hipotesis h:</a:t>
            </a:r>
            <a:endParaRPr lang="en-US" sz="1300" dirty="0"/>
          </a:p>
        </p:txBody>
      </p:sp>
      <p:pic>
        <p:nvPicPr>
          <p:cNvPr id="4" name="Image 0" descr="preencoded.png"/>
          <p:cNvPicPr>
            <a:picLocks noChangeAspect="1"/>
          </p:cNvPicPr>
          <p:nvPr/>
        </p:nvPicPr>
        <p:blipFill>
          <a:blip r:embed="rId3"/>
          <a:stretch>
            <a:fillRect/>
          </a:stretch>
        </p:blipFill>
        <p:spPr>
          <a:xfrm>
            <a:off x="661475" y="3309640"/>
            <a:ext cx="10868745" cy="675382"/>
          </a:xfrm>
          <a:prstGeom prst="rect">
            <a:avLst/>
          </a:prstGeom>
        </p:spPr>
      </p:pic>
      <p:pic>
        <p:nvPicPr>
          <p:cNvPr id="5" name="Image 1" descr="preencoded.png"/>
          <p:cNvPicPr>
            <a:picLocks noChangeAspect="1"/>
          </p:cNvPicPr>
          <p:nvPr/>
        </p:nvPicPr>
        <p:blipFill>
          <a:blip r:embed="rId4"/>
          <a:stretch>
            <a:fillRect/>
          </a:stretch>
        </p:blipFill>
        <p:spPr>
          <a:xfrm>
            <a:off x="661475" y="4194274"/>
            <a:ext cx="10868745" cy="675382"/>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661475" y="1450876"/>
            <a:ext cx="10868745" cy="516731"/>
          </a:xfrm>
          <a:prstGeom prst="rect">
            <a:avLst/>
          </a:prstGeom>
          <a:noFill/>
          <a:ln/>
        </p:spPr>
        <p:txBody>
          <a:bodyPr wrap="none" lIns="0" tIns="0" rIns="0" bIns="0" rtlCol="0" anchor="t"/>
          <a:lstStyle/>
          <a:p>
            <a:pPr marL="0" indent="0" algn="l">
              <a:lnSpc>
                <a:spcPct val="104000"/>
              </a:lnSpc>
              <a:buNone/>
            </a:pPr>
            <a:r>
              <a:rPr lang="en-US" sz="3250" b="1" dirty="0">
                <a:solidFill>
                  <a:srgbClr val="000000"/>
                </a:solidFill>
                <a:latin typeface="PT Sans Bold" pitchFamily="34" charset="0"/>
                <a:ea typeface="PT Sans Bold" pitchFamily="34" charset="-122"/>
                <a:cs typeface="PT Sans Bold" pitchFamily="34" charset="-120"/>
              </a:rPr>
              <a:t>Contoh Perhitungan CF: Dua Observasi</a:t>
            </a:r>
            <a:endParaRPr lang="en-US" sz="3250" dirty="0"/>
          </a:p>
        </p:txBody>
      </p:sp>
      <p:sp>
        <p:nvSpPr>
          <p:cNvPr id="3" name="Text 1"/>
          <p:cNvSpPr/>
          <p:nvPr/>
        </p:nvSpPr>
        <p:spPr>
          <a:xfrm>
            <a:off x="661475" y="2298303"/>
            <a:ext cx="11478330" cy="264616"/>
          </a:xfrm>
          <a:prstGeom prst="rect">
            <a:avLst/>
          </a:prstGeom>
          <a:noFill/>
          <a:ln/>
        </p:spPr>
        <p:txBody>
          <a:bodyPr wrap="none" lIns="0" tIns="0" rIns="0" bIns="0" rtlCol="0" anchor="t"/>
          <a:lstStyle/>
          <a:p>
            <a:pPr marL="0" indent="0" algn="l">
              <a:lnSpc>
                <a:spcPct val="133000"/>
              </a:lnSpc>
              <a:buNone/>
            </a:pPr>
            <a:r>
              <a:rPr lang="en-US" sz="1300" dirty="0">
                <a:solidFill>
                  <a:srgbClr val="000000"/>
                </a:solidFill>
                <a:latin typeface="PT Sans" pitchFamily="34" charset="0"/>
                <a:ea typeface="PT Sans" pitchFamily="34" charset="-122"/>
                <a:cs typeface="PT Sans" pitchFamily="34" charset="-120"/>
              </a:rPr>
              <a:t>Observasi pertama memberikan kepercayaan terhadap h:</a:t>
            </a:r>
            <a:endParaRPr lang="en-US" sz="1300" dirty="0"/>
          </a:p>
        </p:txBody>
      </p:sp>
      <p:sp>
        <p:nvSpPr>
          <p:cNvPr id="4" name="Text 2"/>
          <p:cNvSpPr/>
          <p:nvPr/>
        </p:nvSpPr>
        <p:spPr>
          <a:xfrm>
            <a:off x="661475" y="2748955"/>
            <a:ext cx="11478330" cy="264616"/>
          </a:xfrm>
          <a:prstGeom prst="rect">
            <a:avLst/>
          </a:prstGeom>
          <a:noFill/>
          <a:ln/>
        </p:spPr>
        <p:txBody>
          <a:bodyPr wrap="none" lIns="0" tIns="0" rIns="0" bIns="0" rtlCol="0" anchor="t"/>
          <a:lstStyle/>
          <a:p>
            <a:pPr marL="264160" indent="-264160" algn="l">
              <a:lnSpc>
                <a:spcPct val="133000"/>
              </a:lnSpc>
              <a:buSzPct val="100000"/>
              <a:buChar char="•"/>
            </a:pPr>
            <a:r>
              <a:rPr lang="en-US" sz="1300" i="1" dirty="0">
                <a:solidFill>
                  <a:srgbClr val="000000"/>
                </a:solidFill>
                <a:latin typeface="PT Sans" pitchFamily="34" charset="0"/>
                <a:ea typeface="PT Sans" pitchFamily="34" charset="-122"/>
                <a:cs typeface="PT Sans" pitchFamily="34" charset="-120"/>
              </a:rPr>
              <a:t>        </a:t>
            </a:r>
            <a:r>
              <a:rPr lang="en-US" sz="1300" dirty="0">
                <a:solidFill>
                  <a:srgbClr val="000000"/>
                </a:solidFill>
                <a:latin typeface="PT Sans" pitchFamily="34" charset="0"/>
                <a:ea typeface="PT Sans" pitchFamily="34" charset="-122"/>
                <a:cs typeface="PT Sans" pitchFamily="34" charset="-120"/>
              </a:rPr>
              <a:t> dan </a:t>
            </a:r>
            <a:r>
              <a:rPr lang="en-US" sz="1300" i="1" dirty="0">
                <a:solidFill>
                  <a:srgbClr val="000000"/>
                </a:solidFill>
                <a:latin typeface="PT Sans" pitchFamily="34" charset="0"/>
                <a:ea typeface="PT Sans" pitchFamily="34" charset="-122"/>
                <a:cs typeface="PT Sans" pitchFamily="34" charset="-120"/>
              </a:rPr>
              <a:t>       </a:t>
            </a:r>
            <a:r>
              <a:rPr lang="en-US" sz="1300" dirty="0">
                <a:solidFill>
                  <a:srgbClr val="000000"/>
                </a:solidFill>
                <a:latin typeface="PT Sans" pitchFamily="34" charset="0"/>
                <a:ea typeface="PT Sans" pitchFamily="34" charset="-122"/>
                <a:cs typeface="PT Sans" pitchFamily="34" charset="-120"/>
              </a:rPr>
              <a:t> → </a:t>
            </a:r>
            <a:r>
              <a:rPr lang="en-US" sz="1300" i="1" dirty="0">
                <a:solidFill>
                  <a:srgbClr val="000000"/>
                </a:solidFill>
                <a:latin typeface="PT Sans" pitchFamily="34" charset="0"/>
                <a:ea typeface="PT Sans" pitchFamily="34" charset="-122"/>
                <a:cs typeface="PT Sans" pitchFamily="34" charset="-120"/>
              </a:rPr>
              <a:t>            </a:t>
            </a:r>
            <a:endParaRPr lang="en-US" sz="1300" dirty="0"/>
          </a:p>
        </p:txBody>
      </p:sp>
      <p:pic>
        <p:nvPicPr>
          <p:cNvPr id="5" name="Image 0" descr="preencoded.png"/>
          <p:cNvPicPr>
            <a:picLocks noChangeAspect="1"/>
          </p:cNvPicPr>
          <p:nvPr/>
        </p:nvPicPr>
        <p:blipFill>
          <a:blip r:embed="rId3"/>
          <a:stretch>
            <a:fillRect/>
          </a:stretch>
        </p:blipFill>
        <p:spPr>
          <a:xfrm>
            <a:off x="925985" y="2787055"/>
            <a:ext cx="1137812" cy="213618"/>
          </a:xfrm>
          <a:prstGeom prst="rect">
            <a:avLst/>
          </a:prstGeom>
        </p:spPr>
      </p:pic>
      <p:pic>
        <p:nvPicPr>
          <p:cNvPr id="6" name="Image 1" descr="preencoded.png"/>
          <p:cNvPicPr>
            <a:picLocks noChangeAspect="1"/>
          </p:cNvPicPr>
          <p:nvPr/>
        </p:nvPicPr>
        <p:blipFill>
          <a:blip r:embed="rId4"/>
          <a:stretch>
            <a:fillRect/>
          </a:stretch>
        </p:blipFill>
        <p:spPr>
          <a:xfrm>
            <a:off x="2413436" y="2787055"/>
            <a:ext cx="1019745" cy="213618"/>
          </a:xfrm>
          <a:prstGeom prst="rect">
            <a:avLst/>
          </a:prstGeom>
        </p:spPr>
      </p:pic>
      <p:pic>
        <p:nvPicPr>
          <p:cNvPr id="7" name="Image 2" descr="preencoded.png"/>
          <p:cNvPicPr>
            <a:picLocks noChangeAspect="1"/>
          </p:cNvPicPr>
          <p:nvPr/>
        </p:nvPicPr>
        <p:blipFill>
          <a:blip r:embed="rId5"/>
          <a:stretch>
            <a:fillRect/>
          </a:stretch>
        </p:blipFill>
        <p:spPr>
          <a:xfrm>
            <a:off x="3686777" y="2787055"/>
            <a:ext cx="1786290" cy="213618"/>
          </a:xfrm>
          <a:prstGeom prst="rect">
            <a:avLst/>
          </a:prstGeom>
        </p:spPr>
      </p:pic>
      <p:sp>
        <p:nvSpPr>
          <p:cNvPr id="8" name="Text 3"/>
          <p:cNvSpPr/>
          <p:nvPr/>
        </p:nvSpPr>
        <p:spPr>
          <a:xfrm>
            <a:off x="661475" y="3199606"/>
            <a:ext cx="11478330" cy="264616"/>
          </a:xfrm>
          <a:prstGeom prst="rect">
            <a:avLst/>
          </a:prstGeom>
          <a:noFill/>
          <a:ln/>
        </p:spPr>
        <p:txBody>
          <a:bodyPr wrap="none" lIns="0" tIns="0" rIns="0" bIns="0" rtlCol="0" anchor="t"/>
          <a:lstStyle/>
          <a:p>
            <a:pPr marL="0" indent="0" algn="l">
              <a:lnSpc>
                <a:spcPct val="133000"/>
              </a:lnSpc>
              <a:buNone/>
            </a:pPr>
            <a:r>
              <a:rPr lang="en-US" sz="1300" dirty="0">
                <a:solidFill>
                  <a:srgbClr val="000000"/>
                </a:solidFill>
                <a:latin typeface="PT Sans" pitchFamily="34" charset="0"/>
                <a:ea typeface="PT Sans" pitchFamily="34" charset="-122"/>
                <a:cs typeface="PT Sans" pitchFamily="34" charset="-120"/>
              </a:rPr>
              <a:t>Observasi baru dengan </a:t>
            </a:r>
            <a:r>
              <a:rPr lang="en-US" sz="1300" i="1" dirty="0">
                <a:solidFill>
                  <a:srgbClr val="000000"/>
                </a:solidFill>
                <a:latin typeface="PT Sans" pitchFamily="34" charset="0"/>
                <a:ea typeface="PT Sans" pitchFamily="34" charset="-122"/>
                <a:cs typeface="PT Sans" pitchFamily="34" charset="-120"/>
              </a:rPr>
              <a:t>        </a:t>
            </a:r>
            <a:r>
              <a:rPr lang="en-US" sz="1300" dirty="0">
                <a:solidFill>
                  <a:srgbClr val="000000"/>
                </a:solidFill>
                <a:latin typeface="PT Sans" pitchFamily="34" charset="0"/>
                <a:ea typeface="PT Sans" pitchFamily="34" charset="-122"/>
                <a:cs typeface="PT Sans" pitchFamily="34" charset="-120"/>
              </a:rPr>
              <a:t> dan </a:t>
            </a:r>
            <a:r>
              <a:rPr lang="en-US" sz="1300" i="1" dirty="0">
                <a:solidFill>
                  <a:srgbClr val="000000"/>
                </a:solidFill>
                <a:latin typeface="PT Sans" pitchFamily="34" charset="0"/>
                <a:ea typeface="PT Sans" pitchFamily="34" charset="-122"/>
                <a:cs typeface="PT Sans" pitchFamily="34" charset="-120"/>
              </a:rPr>
              <a:t>       </a:t>
            </a:r>
            <a:r>
              <a:rPr lang="en-US" sz="1300" dirty="0">
                <a:solidFill>
                  <a:srgbClr val="000000"/>
                </a:solidFill>
                <a:latin typeface="PT Sans" pitchFamily="34" charset="0"/>
                <a:ea typeface="PT Sans" pitchFamily="34" charset="-122"/>
                <a:cs typeface="PT Sans" pitchFamily="34" charset="-120"/>
              </a:rPr>
              <a:t>:</a:t>
            </a:r>
            <a:endParaRPr lang="en-US" sz="1300" dirty="0"/>
          </a:p>
        </p:txBody>
      </p:sp>
      <p:pic>
        <p:nvPicPr>
          <p:cNvPr id="9" name="Image 3" descr="preencoded.png"/>
          <p:cNvPicPr>
            <a:picLocks noChangeAspect="1"/>
          </p:cNvPicPr>
          <p:nvPr/>
        </p:nvPicPr>
        <p:blipFill>
          <a:blip r:embed="rId6"/>
          <a:stretch>
            <a:fillRect/>
          </a:stretch>
        </p:blipFill>
        <p:spPr>
          <a:xfrm>
            <a:off x="2322554" y="3237706"/>
            <a:ext cx="1137812" cy="213618"/>
          </a:xfrm>
          <a:prstGeom prst="rect">
            <a:avLst/>
          </a:prstGeom>
        </p:spPr>
      </p:pic>
      <p:pic>
        <p:nvPicPr>
          <p:cNvPr id="10" name="Image 4" descr="preencoded.png"/>
          <p:cNvPicPr>
            <a:picLocks noChangeAspect="1"/>
          </p:cNvPicPr>
          <p:nvPr/>
        </p:nvPicPr>
        <p:blipFill>
          <a:blip r:embed="rId7"/>
          <a:stretch>
            <a:fillRect/>
          </a:stretch>
        </p:blipFill>
        <p:spPr>
          <a:xfrm>
            <a:off x="3810004" y="3237706"/>
            <a:ext cx="1019745" cy="213618"/>
          </a:xfrm>
          <a:prstGeom prst="rect">
            <a:avLst/>
          </a:prstGeom>
        </p:spPr>
      </p:pic>
      <p:sp>
        <p:nvSpPr>
          <p:cNvPr id="11" name="Text 4"/>
          <p:cNvSpPr/>
          <p:nvPr/>
        </p:nvSpPr>
        <p:spPr>
          <a:xfrm>
            <a:off x="661475" y="3650258"/>
            <a:ext cx="11478330" cy="264616"/>
          </a:xfrm>
          <a:prstGeom prst="rect">
            <a:avLst/>
          </a:prstGeom>
          <a:noFill/>
          <a:ln/>
        </p:spPr>
        <p:txBody>
          <a:bodyPr wrap="none" lIns="0" tIns="0" rIns="0" bIns="0" rtlCol="0" anchor="t"/>
          <a:lstStyle/>
          <a:p>
            <a:pPr marL="264160" indent="-264160" algn="l">
              <a:lnSpc>
                <a:spcPct val="133000"/>
              </a:lnSpc>
              <a:buSzPct val="100000"/>
              <a:buChar char="•"/>
            </a:pPr>
            <a:r>
              <a:rPr lang="en-US" sz="1300" i="1" dirty="0">
                <a:solidFill>
                  <a:srgbClr val="000000"/>
                </a:solidFill>
                <a:latin typeface="PT Sans" pitchFamily="34" charset="0"/>
                <a:ea typeface="PT Sans" pitchFamily="34" charset="-122"/>
                <a:cs typeface="PT Sans" pitchFamily="34" charset="-120"/>
              </a:rPr>
              <a:t>                     </a:t>
            </a:r>
            <a:endParaRPr lang="en-US" sz="1300" dirty="0"/>
          </a:p>
        </p:txBody>
      </p:sp>
      <p:pic>
        <p:nvPicPr>
          <p:cNvPr id="12" name="Image 5" descr="preencoded.png"/>
          <p:cNvPicPr>
            <a:picLocks noChangeAspect="1"/>
          </p:cNvPicPr>
          <p:nvPr/>
        </p:nvPicPr>
        <p:blipFill>
          <a:blip r:embed="rId8"/>
          <a:stretch>
            <a:fillRect/>
          </a:stretch>
        </p:blipFill>
        <p:spPr>
          <a:xfrm>
            <a:off x="925985" y="3688358"/>
            <a:ext cx="3187620" cy="213618"/>
          </a:xfrm>
          <a:prstGeom prst="rect">
            <a:avLst/>
          </a:prstGeom>
        </p:spPr>
      </p:pic>
      <p:sp>
        <p:nvSpPr>
          <p:cNvPr id="13" name="Text 5"/>
          <p:cNvSpPr/>
          <p:nvPr/>
        </p:nvSpPr>
        <p:spPr>
          <a:xfrm>
            <a:off x="661475" y="3972719"/>
            <a:ext cx="11478330" cy="264616"/>
          </a:xfrm>
          <a:prstGeom prst="rect">
            <a:avLst/>
          </a:prstGeom>
          <a:noFill/>
          <a:ln/>
        </p:spPr>
        <p:txBody>
          <a:bodyPr wrap="none" lIns="0" tIns="0" rIns="0" bIns="0" rtlCol="0" anchor="t"/>
          <a:lstStyle/>
          <a:p>
            <a:pPr marL="264160" indent="-264160" algn="l">
              <a:lnSpc>
                <a:spcPct val="133000"/>
              </a:lnSpc>
              <a:buSzPct val="100000"/>
              <a:buChar char="•"/>
            </a:pPr>
            <a:r>
              <a:rPr lang="en-US" sz="1300" i="1" dirty="0">
                <a:solidFill>
                  <a:srgbClr val="000000"/>
                </a:solidFill>
                <a:latin typeface="PT Sans" pitchFamily="34" charset="0"/>
                <a:ea typeface="PT Sans" pitchFamily="34" charset="-122"/>
                <a:cs typeface="PT Sans" pitchFamily="34" charset="-120"/>
              </a:rPr>
              <a:t>         </a:t>
            </a:r>
            <a:endParaRPr lang="en-US" sz="1300" dirty="0"/>
          </a:p>
        </p:txBody>
      </p:sp>
      <p:pic>
        <p:nvPicPr>
          <p:cNvPr id="14" name="Image 6" descr="preencoded.png"/>
          <p:cNvPicPr>
            <a:picLocks noChangeAspect="1"/>
          </p:cNvPicPr>
          <p:nvPr/>
        </p:nvPicPr>
        <p:blipFill>
          <a:blip r:embed="rId9"/>
          <a:stretch>
            <a:fillRect/>
          </a:stretch>
        </p:blipFill>
        <p:spPr>
          <a:xfrm>
            <a:off x="925985" y="4010819"/>
            <a:ext cx="1355294" cy="213618"/>
          </a:xfrm>
          <a:prstGeom prst="rect">
            <a:avLst/>
          </a:prstGeom>
        </p:spPr>
      </p:pic>
      <p:sp>
        <p:nvSpPr>
          <p:cNvPr id="15" name="Text 6"/>
          <p:cNvSpPr/>
          <p:nvPr/>
        </p:nvSpPr>
        <p:spPr>
          <a:xfrm>
            <a:off x="661475" y="4295180"/>
            <a:ext cx="11478330" cy="264616"/>
          </a:xfrm>
          <a:prstGeom prst="rect">
            <a:avLst/>
          </a:prstGeom>
          <a:noFill/>
          <a:ln/>
        </p:spPr>
        <p:txBody>
          <a:bodyPr wrap="none" lIns="0" tIns="0" rIns="0" bIns="0" rtlCol="0" anchor="t"/>
          <a:lstStyle/>
          <a:p>
            <a:pPr marL="264160" indent="-264160" algn="l">
              <a:lnSpc>
                <a:spcPct val="133000"/>
              </a:lnSpc>
              <a:buSzPct val="100000"/>
              <a:buChar char="•"/>
            </a:pPr>
            <a:r>
              <a:rPr lang="en-US" sz="1300" i="1" dirty="0">
                <a:solidFill>
                  <a:srgbClr val="000000"/>
                </a:solidFill>
                <a:latin typeface="PT Sans" pitchFamily="34" charset="0"/>
                <a:ea typeface="PT Sans" pitchFamily="34" charset="-122"/>
                <a:cs typeface="PT Sans" pitchFamily="34" charset="-120"/>
              </a:rPr>
              <a:t>               </a:t>
            </a:r>
            <a:endParaRPr lang="en-US" sz="1300" dirty="0"/>
          </a:p>
        </p:txBody>
      </p:sp>
      <p:pic>
        <p:nvPicPr>
          <p:cNvPr id="16" name="Image 7" descr="preencoded.png"/>
          <p:cNvPicPr>
            <a:picLocks noChangeAspect="1"/>
          </p:cNvPicPr>
          <p:nvPr/>
        </p:nvPicPr>
        <p:blipFill>
          <a:blip r:embed="rId10"/>
          <a:stretch>
            <a:fillRect/>
          </a:stretch>
        </p:blipFill>
        <p:spPr>
          <a:xfrm>
            <a:off x="925985" y="4333280"/>
            <a:ext cx="2283363" cy="213618"/>
          </a:xfrm>
          <a:prstGeom prst="rect">
            <a:avLst/>
          </a:prstGeom>
        </p:spPr>
      </p:pic>
      <p:sp>
        <p:nvSpPr>
          <p:cNvPr id="17" name="Shape 7"/>
          <p:cNvSpPr/>
          <p:nvPr/>
        </p:nvSpPr>
        <p:spPr>
          <a:xfrm>
            <a:off x="661475" y="4745831"/>
            <a:ext cx="10868745" cy="661293"/>
          </a:xfrm>
          <a:prstGeom prst="roundRect">
            <a:avLst>
              <a:gd name="adj" fmla="val 10504"/>
            </a:avLst>
          </a:prstGeom>
          <a:solidFill>
            <a:srgbClr val="FDF3CE"/>
          </a:solidFill>
          <a:ln/>
        </p:spPr>
      </p:sp>
      <p:pic>
        <p:nvPicPr>
          <p:cNvPr id="18" name="Image 8" descr="preencoded.png"/>
          <p:cNvPicPr>
            <a:picLocks noChangeAspect="1"/>
          </p:cNvPicPr>
          <p:nvPr/>
        </p:nvPicPr>
        <p:blipFill>
          <a:blip r:embed="rId11"/>
          <a:stretch>
            <a:fillRect/>
          </a:stretch>
        </p:blipFill>
        <p:spPr>
          <a:xfrm>
            <a:off x="826769" y="4985544"/>
            <a:ext cx="206667" cy="165298"/>
          </a:xfrm>
          <a:prstGeom prst="rect">
            <a:avLst/>
          </a:prstGeom>
        </p:spPr>
      </p:pic>
      <p:sp>
        <p:nvSpPr>
          <p:cNvPr id="19" name="Text 8"/>
          <p:cNvSpPr/>
          <p:nvPr/>
        </p:nvSpPr>
        <p:spPr>
          <a:xfrm>
            <a:off x="1198731" y="4952405"/>
            <a:ext cx="10775780" cy="264616"/>
          </a:xfrm>
          <a:prstGeom prst="rect">
            <a:avLst/>
          </a:prstGeom>
          <a:noFill/>
          <a:ln/>
        </p:spPr>
        <p:txBody>
          <a:bodyPr wrap="none" lIns="0" tIns="0" rIns="0" bIns="0" rtlCol="0" anchor="t"/>
          <a:lstStyle/>
          <a:p>
            <a:pPr marL="0" indent="0" algn="l">
              <a:lnSpc>
                <a:spcPct val="133000"/>
              </a:lnSpc>
              <a:buNone/>
            </a:pPr>
            <a:r>
              <a:rPr lang="en-US" sz="1300" dirty="0">
                <a:solidFill>
                  <a:srgbClr val="000000"/>
                </a:solidFill>
                <a:latin typeface="PT Sans" pitchFamily="34" charset="0"/>
                <a:ea typeface="PT Sans" pitchFamily="34" charset="-122"/>
                <a:cs typeface="PT Sans" pitchFamily="34" charset="-120"/>
              </a:rPr>
              <a:t>Setiap evidence baru </a:t>
            </a:r>
            <a:r>
              <a:rPr lang="en-US" sz="1300" b="1" dirty="0">
                <a:solidFill>
                  <a:srgbClr val="000000"/>
                </a:solidFill>
                <a:latin typeface="PT Sans Bold" pitchFamily="34" charset="0"/>
                <a:ea typeface="PT Sans Bold" pitchFamily="34" charset="-122"/>
                <a:cs typeface="PT Sans Bold" pitchFamily="34" charset="-120"/>
              </a:rPr>
              <a:t>meningkatkan</a:t>
            </a:r>
            <a:r>
              <a:rPr lang="en-US" sz="1300" dirty="0">
                <a:solidFill>
                  <a:srgbClr val="000000"/>
                </a:solidFill>
                <a:latin typeface="PT Sans" pitchFamily="34" charset="0"/>
                <a:ea typeface="PT Sans" pitchFamily="34" charset="-122"/>
                <a:cs typeface="PT Sans" pitchFamily="34" charset="-120"/>
              </a:rPr>
              <a:t> nilai CF secara bertahap, bukan langsung menjumlahkan.</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619809" y="0"/>
            <a:ext cx="4571886" cy="6858000"/>
          </a:xfrm>
          <a:prstGeom prst="rect">
            <a:avLst/>
          </a:prstGeom>
        </p:spPr>
      </p:pic>
      <p:sp>
        <p:nvSpPr>
          <p:cNvPr id="3" name="Text 0"/>
          <p:cNvSpPr/>
          <p:nvPr/>
        </p:nvSpPr>
        <p:spPr>
          <a:xfrm>
            <a:off x="661475" y="2523629"/>
            <a:ext cx="6296860" cy="1033463"/>
          </a:xfrm>
          <a:prstGeom prst="rect">
            <a:avLst/>
          </a:prstGeom>
          <a:noFill/>
          <a:ln/>
        </p:spPr>
        <p:txBody>
          <a:bodyPr wrap="square" lIns="0" tIns="0" rIns="0" bIns="0" rtlCol="0" anchor="t">
            <a:normAutofit/>
          </a:bodyPr>
          <a:lstStyle/>
          <a:p>
            <a:pPr marL="0" indent="0" algn="l">
              <a:lnSpc>
                <a:spcPct val="104000"/>
              </a:lnSpc>
              <a:buNone/>
            </a:pPr>
            <a:r>
              <a:rPr lang="en-US" sz="3250" b="1" dirty="0">
                <a:solidFill>
                  <a:srgbClr val="000000"/>
                </a:solidFill>
                <a:latin typeface="PT Sans Bold" pitchFamily="34" charset="0"/>
                <a:ea typeface="PT Sans Bold" pitchFamily="34" charset="-122"/>
                <a:cs typeface="PT Sans Bold" pitchFamily="34" charset="-120"/>
              </a:rPr>
              <a:t>Studi Kasus CF: Asih dengan Bintik dan Panas</a:t>
            </a:r>
            <a:endParaRPr lang="en-US" sz="3250" dirty="0"/>
          </a:p>
        </p:txBody>
      </p:sp>
      <p:sp>
        <p:nvSpPr>
          <p:cNvPr id="4" name="Text 1"/>
          <p:cNvSpPr/>
          <p:nvPr/>
        </p:nvSpPr>
        <p:spPr>
          <a:xfrm>
            <a:off x="661475" y="3805138"/>
            <a:ext cx="6296860"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000000"/>
                </a:solidFill>
                <a:latin typeface="PT Sans" pitchFamily="34" charset="0"/>
                <a:ea typeface="PT Sans" pitchFamily="34" charset="-122"/>
                <a:cs typeface="PT Sans" pitchFamily="34" charset="-120"/>
              </a:rPr>
              <a:t>Dokter memperkirakan Asih terkena cacar berdasarkan dua gejala: bintik di wajah dan panas badan.</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661475" y="1801912"/>
            <a:ext cx="10868745" cy="516731"/>
          </a:xfrm>
          <a:prstGeom prst="rect">
            <a:avLst/>
          </a:prstGeom>
          <a:noFill/>
          <a:ln/>
        </p:spPr>
        <p:txBody>
          <a:bodyPr wrap="none" lIns="0" tIns="0" rIns="0" bIns="0" rtlCol="0" anchor="t"/>
          <a:lstStyle/>
          <a:p>
            <a:pPr marL="0" indent="0" algn="l">
              <a:lnSpc>
                <a:spcPct val="104000"/>
              </a:lnSpc>
              <a:buNone/>
            </a:pPr>
            <a:r>
              <a:rPr lang="en-US" sz="3250" b="1" dirty="0">
                <a:solidFill>
                  <a:srgbClr val="000000"/>
                </a:solidFill>
                <a:latin typeface="PT Sans Bold" pitchFamily="34" charset="0"/>
                <a:ea typeface="PT Sans Bold" pitchFamily="34" charset="-122"/>
                <a:cs typeface="PT Sans Bold" pitchFamily="34" charset="-120"/>
              </a:rPr>
              <a:t>Langkah 1: CF dari Gejala Bintik</a:t>
            </a:r>
            <a:endParaRPr lang="en-US" sz="3250" dirty="0"/>
          </a:p>
        </p:txBody>
      </p:sp>
      <p:sp>
        <p:nvSpPr>
          <p:cNvPr id="3" name="Text 1"/>
          <p:cNvSpPr/>
          <p:nvPr/>
        </p:nvSpPr>
        <p:spPr>
          <a:xfrm>
            <a:off x="661475" y="2649339"/>
            <a:ext cx="11478330" cy="264616"/>
          </a:xfrm>
          <a:prstGeom prst="rect">
            <a:avLst/>
          </a:prstGeom>
          <a:noFill/>
          <a:ln/>
        </p:spPr>
        <p:txBody>
          <a:bodyPr wrap="none" lIns="0" tIns="0" rIns="0" bIns="0" rtlCol="0" anchor="t"/>
          <a:lstStyle/>
          <a:p>
            <a:pPr marL="0" indent="0" algn="l">
              <a:lnSpc>
                <a:spcPct val="133000"/>
              </a:lnSpc>
              <a:buNone/>
            </a:pPr>
            <a:r>
              <a:rPr lang="en-US" sz="1300" dirty="0">
                <a:solidFill>
                  <a:srgbClr val="000000"/>
                </a:solidFill>
                <a:latin typeface="PT Sans" pitchFamily="34" charset="0"/>
                <a:ea typeface="PT Sans" pitchFamily="34" charset="-122"/>
                <a:cs typeface="PT Sans" pitchFamily="34" charset="-120"/>
              </a:rPr>
              <a:t>Dari gejala bintik-bintik di wajah:</a:t>
            </a:r>
            <a:endParaRPr lang="en-US" sz="1300" dirty="0"/>
          </a:p>
        </p:txBody>
      </p:sp>
      <p:sp>
        <p:nvSpPr>
          <p:cNvPr id="4" name="Text 2"/>
          <p:cNvSpPr/>
          <p:nvPr/>
        </p:nvSpPr>
        <p:spPr>
          <a:xfrm>
            <a:off x="661475" y="3099991"/>
            <a:ext cx="11478330" cy="264616"/>
          </a:xfrm>
          <a:prstGeom prst="rect">
            <a:avLst/>
          </a:prstGeom>
          <a:noFill/>
          <a:ln/>
        </p:spPr>
        <p:txBody>
          <a:bodyPr wrap="none" lIns="0" tIns="0" rIns="0" bIns="0" rtlCol="0" anchor="t"/>
          <a:lstStyle/>
          <a:p>
            <a:pPr marL="264160" indent="-264160" algn="l">
              <a:lnSpc>
                <a:spcPct val="133000"/>
              </a:lnSpc>
              <a:buSzPct val="100000"/>
              <a:buChar char="•"/>
            </a:pPr>
            <a:r>
              <a:rPr lang="en-US" sz="1300" i="1" dirty="0">
                <a:solidFill>
                  <a:srgbClr val="000000"/>
                </a:solidFill>
                <a:latin typeface="PT Sans" pitchFamily="34" charset="0"/>
                <a:ea typeface="PT Sans" pitchFamily="34" charset="-122"/>
                <a:cs typeface="PT Sans" pitchFamily="34" charset="-120"/>
              </a:rPr>
              <a:t>            </a:t>
            </a:r>
            <a:endParaRPr lang="en-US" sz="1300" dirty="0"/>
          </a:p>
        </p:txBody>
      </p:sp>
      <p:pic>
        <p:nvPicPr>
          <p:cNvPr id="5" name="Image 0" descr="preencoded.png"/>
          <p:cNvPicPr>
            <a:picLocks noChangeAspect="1"/>
          </p:cNvPicPr>
          <p:nvPr/>
        </p:nvPicPr>
        <p:blipFill>
          <a:blip r:embed="rId3"/>
          <a:stretch>
            <a:fillRect/>
          </a:stretch>
        </p:blipFill>
        <p:spPr>
          <a:xfrm>
            <a:off x="925985" y="3138091"/>
            <a:ext cx="1755235" cy="213618"/>
          </a:xfrm>
          <a:prstGeom prst="rect">
            <a:avLst/>
          </a:prstGeom>
        </p:spPr>
      </p:pic>
      <p:sp>
        <p:nvSpPr>
          <p:cNvPr id="6" name="Text 3"/>
          <p:cNvSpPr/>
          <p:nvPr/>
        </p:nvSpPr>
        <p:spPr>
          <a:xfrm>
            <a:off x="661475" y="3422452"/>
            <a:ext cx="11478330" cy="264616"/>
          </a:xfrm>
          <a:prstGeom prst="rect">
            <a:avLst/>
          </a:prstGeom>
          <a:noFill/>
          <a:ln/>
        </p:spPr>
        <p:txBody>
          <a:bodyPr wrap="none" lIns="0" tIns="0" rIns="0" bIns="0" rtlCol="0" anchor="t"/>
          <a:lstStyle/>
          <a:p>
            <a:pPr marL="264160" indent="-264160" algn="l">
              <a:lnSpc>
                <a:spcPct val="133000"/>
              </a:lnSpc>
              <a:buSzPct val="100000"/>
              <a:buChar char="•"/>
            </a:pPr>
            <a:r>
              <a:rPr lang="en-US" sz="1300" i="1" dirty="0">
                <a:solidFill>
                  <a:srgbClr val="000000"/>
                </a:solidFill>
                <a:latin typeface="PT Sans" pitchFamily="34" charset="0"/>
                <a:ea typeface="PT Sans" pitchFamily="34" charset="-122"/>
                <a:cs typeface="PT Sans" pitchFamily="34" charset="-120"/>
              </a:rPr>
              <a:t>            </a:t>
            </a:r>
            <a:endParaRPr lang="en-US" sz="1300" dirty="0"/>
          </a:p>
        </p:txBody>
      </p:sp>
      <p:pic>
        <p:nvPicPr>
          <p:cNvPr id="7" name="Image 1" descr="preencoded.png"/>
          <p:cNvPicPr>
            <a:picLocks noChangeAspect="1"/>
          </p:cNvPicPr>
          <p:nvPr/>
        </p:nvPicPr>
        <p:blipFill>
          <a:blip r:embed="rId4"/>
          <a:stretch>
            <a:fillRect/>
          </a:stretch>
        </p:blipFill>
        <p:spPr>
          <a:xfrm>
            <a:off x="925985" y="3460552"/>
            <a:ext cx="1762775" cy="213618"/>
          </a:xfrm>
          <a:prstGeom prst="rect">
            <a:avLst/>
          </a:prstGeom>
        </p:spPr>
      </p:pic>
      <p:pic>
        <p:nvPicPr>
          <p:cNvPr id="8" name="Image 2" descr="preencoded.png"/>
          <p:cNvPicPr>
            <a:picLocks noChangeAspect="1"/>
          </p:cNvPicPr>
          <p:nvPr/>
        </p:nvPicPr>
        <p:blipFill>
          <a:blip r:embed="rId5"/>
          <a:stretch>
            <a:fillRect/>
          </a:stretch>
        </p:blipFill>
        <p:spPr>
          <a:xfrm>
            <a:off x="661475" y="3896320"/>
            <a:ext cx="10868745" cy="289123"/>
          </a:xfrm>
          <a:prstGeom prst="rect">
            <a:avLst/>
          </a:prstGeom>
        </p:spPr>
      </p:pic>
      <p:sp>
        <p:nvSpPr>
          <p:cNvPr id="9" name="Shape 4"/>
          <p:cNvSpPr/>
          <p:nvPr/>
        </p:nvSpPr>
        <p:spPr>
          <a:xfrm>
            <a:off x="661475" y="4394696"/>
            <a:ext cx="10868745" cy="661293"/>
          </a:xfrm>
          <a:prstGeom prst="roundRect">
            <a:avLst>
              <a:gd name="adj" fmla="val 10504"/>
            </a:avLst>
          </a:prstGeom>
          <a:solidFill>
            <a:srgbClr val="FDF3CE"/>
          </a:solidFill>
          <a:ln/>
        </p:spPr>
      </p:sp>
      <p:pic>
        <p:nvPicPr>
          <p:cNvPr id="10" name="Image 3" descr="preencoded.png"/>
          <p:cNvPicPr>
            <a:picLocks noChangeAspect="1"/>
          </p:cNvPicPr>
          <p:nvPr/>
        </p:nvPicPr>
        <p:blipFill>
          <a:blip r:embed="rId6"/>
          <a:stretch>
            <a:fillRect/>
          </a:stretch>
        </p:blipFill>
        <p:spPr>
          <a:xfrm>
            <a:off x="826769" y="4634409"/>
            <a:ext cx="206667" cy="165298"/>
          </a:xfrm>
          <a:prstGeom prst="rect">
            <a:avLst/>
          </a:prstGeom>
        </p:spPr>
      </p:pic>
      <p:sp>
        <p:nvSpPr>
          <p:cNvPr id="11" name="Text 5"/>
          <p:cNvSpPr/>
          <p:nvPr/>
        </p:nvSpPr>
        <p:spPr>
          <a:xfrm>
            <a:off x="1198731" y="4601270"/>
            <a:ext cx="10775780" cy="264616"/>
          </a:xfrm>
          <a:prstGeom prst="rect">
            <a:avLst/>
          </a:prstGeom>
          <a:noFill/>
          <a:ln/>
        </p:spPr>
        <p:txBody>
          <a:bodyPr wrap="none" lIns="0" tIns="0" rIns="0" bIns="0" rtlCol="0" anchor="t"/>
          <a:lstStyle/>
          <a:p>
            <a:pPr marL="0" indent="0" algn="l">
              <a:lnSpc>
                <a:spcPct val="133000"/>
              </a:lnSpc>
              <a:buNone/>
            </a:pPr>
            <a:r>
              <a:rPr lang="en-US" sz="1300" dirty="0">
                <a:solidFill>
                  <a:srgbClr val="000000"/>
                </a:solidFill>
                <a:latin typeface="PT Sans" pitchFamily="34" charset="0"/>
                <a:ea typeface="PT Sans" pitchFamily="34" charset="-122"/>
                <a:cs typeface="PT Sans" pitchFamily="34" charset="-120"/>
              </a:rPr>
              <a:t>CF sebesar </a:t>
            </a:r>
            <a:r>
              <a:rPr lang="en-US" sz="1300" b="1" dirty="0">
                <a:solidFill>
                  <a:srgbClr val="000000"/>
                </a:solidFill>
                <a:latin typeface="PT Sans Bold" pitchFamily="34" charset="0"/>
                <a:ea typeface="PT Sans Bold" pitchFamily="34" charset="-122"/>
                <a:cs typeface="PT Sans Bold" pitchFamily="34" charset="-120"/>
              </a:rPr>
              <a:t>0.79</a:t>
            </a:r>
            <a:r>
              <a:rPr lang="en-US" sz="1300" dirty="0">
                <a:solidFill>
                  <a:srgbClr val="000000"/>
                </a:solidFill>
                <a:latin typeface="PT Sans" pitchFamily="34" charset="0"/>
                <a:ea typeface="PT Sans" pitchFamily="34" charset="-122"/>
                <a:cs typeface="PT Sans" pitchFamily="34" charset="-120"/>
              </a:rPr>
              <a:t> menunjukkan tingkat kepercayaan yang cukup tinggi bahwa Asih terkena cacar hanya berdasarkan gejala bintik.</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661475" y="1738809"/>
            <a:ext cx="10868745" cy="516731"/>
          </a:xfrm>
          <a:prstGeom prst="rect">
            <a:avLst/>
          </a:prstGeom>
          <a:noFill/>
          <a:ln/>
        </p:spPr>
        <p:txBody>
          <a:bodyPr wrap="none" lIns="0" tIns="0" rIns="0" bIns="0" rtlCol="0" anchor="t"/>
          <a:lstStyle/>
          <a:p>
            <a:pPr marL="0" indent="0" algn="l">
              <a:lnSpc>
                <a:spcPct val="104000"/>
              </a:lnSpc>
              <a:buNone/>
            </a:pPr>
            <a:r>
              <a:rPr lang="en-US" sz="3250" b="1" dirty="0">
                <a:solidFill>
                  <a:srgbClr val="000000"/>
                </a:solidFill>
                <a:latin typeface="PT Sans Bold" pitchFamily="34" charset="0"/>
                <a:ea typeface="PT Sans Bold" pitchFamily="34" charset="-122"/>
                <a:cs typeface="PT Sans Bold" pitchFamily="34" charset="-120"/>
              </a:rPr>
              <a:t>Langkah 2: CF Diperbarui dengan Gejala Panas</a:t>
            </a:r>
            <a:endParaRPr lang="en-US" sz="3250" dirty="0"/>
          </a:p>
        </p:txBody>
      </p:sp>
      <p:sp>
        <p:nvSpPr>
          <p:cNvPr id="3" name="Text 1"/>
          <p:cNvSpPr/>
          <p:nvPr/>
        </p:nvSpPr>
        <p:spPr>
          <a:xfrm>
            <a:off x="661475" y="2586236"/>
            <a:ext cx="11478330" cy="264616"/>
          </a:xfrm>
          <a:prstGeom prst="rect">
            <a:avLst/>
          </a:prstGeom>
          <a:noFill/>
          <a:ln/>
        </p:spPr>
        <p:txBody>
          <a:bodyPr wrap="none" lIns="0" tIns="0" rIns="0" bIns="0" rtlCol="0" anchor="t"/>
          <a:lstStyle/>
          <a:p>
            <a:pPr marL="0" indent="0" algn="l">
              <a:lnSpc>
                <a:spcPct val="133000"/>
              </a:lnSpc>
              <a:buNone/>
            </a:pPr>
            <a:r>
              <a:rPr lang="en-US" sz="1300" dirty="0">
                <a:solidFill>
                  <a:srgbClr val="000000"/>
                </a:solidFill>
                <a:latin typeface="PT Sans" pitchFamily="34" charset="0"/>
                <a:ea typeface="PT Sans" pitchFamily="34" charset="-122"/>
                <a:cs typeface="PT Sans" pitchFamily="34" charset="-120"/>
              </a:rPr>
              <a:t>Observasi baru: Asih juga mengalami panas badan.</a:t>
            </a:r>
            <a:endParaRPr lang="en-US" sz="1300" dirty="0"/>
          </a:p>
        </p:txBody>
      </p:sp>
      <p:sp>
        <p:nvSpPr>
          <p:cNvPr id="4" name="Text 2"/>
          <p:cNvSpPr/>
          <p:nvPr/>
        </p:nvSpPr>
        <p:spPr>
          <a:xfrm>
            <a:off x="661475" y="3036887"/>
            <a:ext cx="11478330" cy="264616"/>
          </a:xfrm>
          <a:prstGeom prst="rect">
            <a:avLst/>
          </a:prstGeom>
          <a:noFill/>
          <a:ln/>
        </p:spPr>
        <p:txBody>
          <a:bodyPr wrap="none" lIns="0" tIns="0" rIns="0" bIns="0" rtlCol="0" anchor="t"/>
          <a:lstStyle/>
          <a:p>
            <a:pPr marL="264160" indent="-264160" algn="l">
              <a:lnSpc>
                <a:spcPct val="133000"/>
              </a:lnSpc>
              <a:buSzPct val="100000"/>
              <a:buChar char="•"/>
            </a:pPr>
            <a:r>
              <a:rPr lang="en-US" sz="1300" i="1" dirty="0">
                <a:solidFill>
                  <a:srgbClr val="000000"/>
                </a:solidFill>
                <a:latin typeface="PT Sans" pitchFamily="34" charset="0"/>
                <a:ea typeface="PT Sans" pitchFamily="34" charset="-122"/>
                <a:cs typeface="PT Sans" pitchFamily="34" charset="-120"/>
              </a:rPr>
              <a:t>           </a:t>
            </a:r>
            <a:endParaRPr lang="en-US" sz="1300" dirty="0"/>
          </a:p>
        </p:txBody>
      </p:sp>
      <p:pic>
        <p:nvPicPr>
          <p:cNvPr id="5" name="Image 0" descr="preencoded.png"/>
          <p:cNvPicPr>
            <a:picLocks noChangeAspect="1"/>
          </p:cNvPicPr>
          <p:nvPr/>
        </p:nvPicPr>
        <p:blipFill>
          <a:blip r:embed="rId3"/>
          <a:stretch>
            <a:fillRect/>
          </a:stretch>
        </p:blipFill>
        <p:spPr>
          <a:xfrm>
            <a:off x="925985" y="3074988"/>
            <a:ext cx="1661674" cy="213618"/>
          </a:xfrm>
          <a:prstGeom prst="rect">
            <a:avLst/>
          </a:prstGeom>
        </p:spPr>
      </p:pic>
      <p:sp>
        <p:nvSpPr>
          <p:cNvPr id="6" name="Text 3"/>
          <p:cNvSpPr/>
          <p:nvPr/>
        </p:nvSpPr>
        <p:spPr>
          <a:xfrm>
            <a:off x="661475" y="3359348"/>
            <a:ext cx="11478330" cy="264616"/>
          </a:xfrm>
          <a:prstGeom prst="rect">
            <a:avLst/>
          </a:prstGeom>
          <a:noFill/>
          <a:ln/>
        </p:spPr>
        <p:txBody>
          <a:bodyPr wrap="none" lIns="0" tIns="0" rIns="0" bIns="0" rtlCol="0" anchor="t"/>
          <a:lstStyle/>
          <a:p>
            <a:pPr marL="264160" indent="-264160" algn="l">
              <a:lnSpc>
                <a:spcPct val="133000"/>
              </a:lnSpc>
              <a:buSzPct val="100000"/>
              <a:buChar char="•"/>
            </a:pPr>
            <a:r>
              <a:rPr lang="en-US" sz="1300" i="1" dirty="0">
                <a:solidFill>
                  <a:srgbClr val="000000"/>
                </a:solidFill>
                <a:latin typeface="PT Sans" pitchFamily="34" charset="0"/>
                <a:ea typeface="PT Sans" pitchFamily="34" charset="-122"/>
                <a:cs typeface="PT Sans" pitchFamily="34" charset="-120"/>
              </a:rPr>
              <a:t>            </a:t>
            </a:r>
            <a:endParaRPr lang="en-US" sz="1300" dirty="0"/>
          </a:p>
        </p:txBody>
      </p:sp>
      <p:pic>
        <p:nvPicPr>
          <p:cNvPr id="7" name="Image 1" descr="preencoded.png"/>
          <p:cNvPicPr>
            <a:picLocks noChangeAspect="1"/>
          </p:cNvPicPr>
          <p:nvPr/>
        </p:nvPicPr>
        <p:blipFill>
          <a:blip r:embed="rId4"/>
          <a:stretch>
            <a:fillRect/>
          </a:stretch>
        </p:blipFill>
        <p:spPr>
          <a:xfrm>
            <a:off x="925985" y="3397448"/>
            <a:ext cx="1749977" cy="213618"/>
          </a:xfrm>
          <a:prstGeom prst="rect">
            <a:avLst/>
          </a:prstGeom>
        </p:spPr>
      </p:pic>
      <p:pic>
        <p:nvPicPr>
          <p:cNvPr id="8" name="Image 2" descr="preencoded.png"/>
          <p:cNvPicPr>
            <a:picLocks noChangeAspect="1"/>
          </p:cNvPicPr>
          <p:nvPr/>
        </p:nvPicPr>
        <p:blipFill>
          <a:blip r:embed="rId5"/>
          <a:stretch>
            <a:fillRect/>
          </a:stretch>
        </p:blipFill>
        <p:spPr>
          <a:xfrm>
            <a:off x="661475" y="3833217"/>
            <a:ext cx="10868745" cy="289123"/>
          </a:xfrm>
          <a:prstGeom prst="rect">
            <a:avLst/>
          </a:prstGeom>
        </p:spPr>
      </p:pic>
      <p:pic>
        <p:nvPicPr>
          <p:cNvPr id="9" name="Image 3" descr="preencoded.png"/>
          <p:cNvPicPr>
            <a:picLocks noChangeAspect="1"/>
          </p:cNvPicPr>
          <p:nvPr/>
        </p:nvPicPr>
        <p:blipFill>
          <a:blip r:embed="rId6"/>
          <a:stretch>
            <a:fillRect/>
          </a:stretch>
        </p:blipFill>
        <p:spPr>
          <a:xfrm>
            <a:off x="661475" y="4331593"/>
            <a:ext cx="10868745" cy="289123"/>
          </a:xfrm>
          <a:prstGeom prst="rect">
            <a:avLst/>
          </a:prstGeom>
        </p:spPr>
      </p:pic>
      <p:pic>
        <p:nvPicPr>
          <p:cNvPr id="10" name="Image 4" descr="preencoded.png"/>
          <p:cNvPicPr>
            <a:picLocks noChangeAspect="1"/>
          </p:cNvPicPr>
          <p:nvPr/>
        </p:nvPicPr>
        <p:blipFill>
          <a:blip r:embed="rId7"/>
          <a:stretch>
            <a:fillRect/>
          </a:stretch>
        </p:blipFill>
        <p:spPr>
          <a:xfrm>
            <a:off x="661475" y="4829969"/>
            <a:ext cx="10868745" cy="289123"/>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661475" y="454819"/>
            <a:ext cx="10868745" cy="258465"/>
          </a:xfrm>
          <a:prstGeom prst="rect">
            <a:avLst/>
          </a:prstGeom>
          <a:noFill/>
          <a:ln/>
        </p:spPr>
        <p:txBody>
          <a:bodyPr wrap="none" lIns="0" tIns="0" rIns="0" bIns="0" rtlCol="0" anchor="t"/>
          <a:lstStyle/>
          <a:p>
            <a:pPr marL="0" indent="0" algn="l">
              <a:lnSpc>
                <a:spcPct val="104000"/>
              </a:lnSpc>
              <a:buNone/>
            </a:pPr>
            <a:r>
              <a:rPr lang="en-US" sz="1600" b="1" dirty="0">
                <a:solidFill>
                  <a:srgbClr val="000000"/>
                </a:solidFill>
                <a:latin typeface="PT Sans Bold" pitchFamily="34" charset="0"/>
                <a:ea typeface="PT Sans Bold" pitchFamily="34" charset="-122"/>
                <a:cs typeface="PT Sans Bold" pitchFamily="34" charset="-120"/>
              </a:rPr>
              <a:t>Perbandingan CF: Sebelum dan Sesudah Evidence Baru</a:t>
            </a:r>
            <a:endParaRPr lang="en-US" sz="1600" dirty="0"/>
          </a:p>
        </p:txBody>
      </p:sp>
      <p:pic>
        <p:nvPicPr>
          <p:cNvPr id="3" name="Image 0" descr="preencoded.png"/>
          <p:cNvPicPr>
            <a:picLocks noChangeAspect="1"/>
          </p:cNvPicPr>
          <p:nvPr/>
        </p:nvPicPr>
        <p:blipFill>
          <a:blip r:embed="rId3"/>
          <a:stretch>
            <a:fillRect/>
          </a:stretch>
        </p:blipFill>
        <p:spPr>
          <a:xfrm>
            <a:off x="661475" y="795933"/>
            <a:ext cx="10868745" cy="6086574"/>
          </a:xfrm>
          <a:prstGeom prst="rect">
            <a:avLst/>
          </a:prstGeom>
        </p:spPr>
      </p:pic>
      <p:sp>
        <p:nvSpPr>
          <p:cNvPr id="4" name="Text 1"/>
          <p:cNvSpPr/>
          <p:nvPr/>
        </p:nvSpPr>
        <p:spPr>
          <a:xfrm>
            <a:off x="661475" y="6928941"/>
            <a:ext cx="11478330" cy="99120"/>
          </a:xfrm>
          <a:prstGeom prst="rect">
            <a:avLst/>
          </a:prstGeom>
          <a:noFill/>
          <a:ln/>
        </p:spPr>
        <p:txBody>
          <a:bodyPr wrap="none" lIns="0" tIns="0" rIns="0" bIns="0" rtlCol="0" anchor="t"/>
          <a:lstStyle/>
          <a:p>
            <a:pPr marL="0" indent="0" algn="l">
              <a:lnSpc>
                <a:spcPct val="100000"/>
              </a:lnSpc>
              <a:buNone/>
            </a:pPr>
            <a:r>
              <a:rPr lang="en-US" sz="650" dirty="0">
                <a:solidFill>
                  <a:srgbClr val="000000"/>
                </a:solidFill>
                <a:latin typeface="PT Sans" pitchFamily="34" charset="0"/>
                <a:ea typeface="PT Sans" pitchFamily="34" charset="-122"/>
                <a:cs typeface="PT Sans" pitchFamily="34" charset="-120"/>
              </a:rPr>
              <a:t>Penambahan evidence panas badan meningkatkan CF dari 0.79 menjadi 0.8508, menunjukkan keyakinan yang lebih tinggi terhadap diagnosis cacar.</a:t>
            </a:r>
            <a:endParaRPr lang="en-US" sz="6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4571886" cy="6858000"/>
          </a:xfrm>
          <a:prstGeom prst="rect">
            <a:avLst/>
          </a:prstGeom>
        </p:spPr>
      </p:pic>
      <p:sp>
        <p:nvSpPr>
          <p:cNvPr id="3" name="Text 0"/>
          <p:cNvSpPr/>
          <p:nvPr/>
        </p:nvSpPr>
        <p:spPr>
          <a:xfrm>
            <a:off x="5233360" y="2517378"/>
            <a:ext cx="6296860" cy="516731"/>
          </a:xfrm>
          <a:prstGeom prst="rect">
            <a:avLst/>
          </a:prstGeom>
          <a:noFill/>
          <a:ln/>
        </p:spPr>
        <p:txBody>
          <a:bodyPr wrap="none" lIns="0" tIns="0" rIns="0" bIns="0" rtlCol="0" anchor="t"/>
          <a:lstStyle/>
          <a:p>
            <a:pPr marL="0" indent="0" algn="l">
              <a:lnSpc>
                <a:spcPct val="104000"/>
              </a:lnSpc>
              <a:buNone/>
            </a:pPr>
            <a:r>
              <a:rPr lang="en-US" sz="3250" b="1" dirty="0">
                <a:solidFill>
                  <a:srgbClr val="000000"/>
                </a:solidFill>
                <a:latin typeface="PT Sans Bold" pitchFamily="34" charset="0"/>
                <a:ea typeface="PT Sans Bold" pitchFamily="34" charset="-122"/>
                <a:cs typeface="PT Sans Bold" pitchFamily="34" charset="-120"/>
              </a:rPr>
              <a:t>Analogi CF: Hakim di Pengadilan</a:t>
            </a:r>
            <a:endParaRPr lang="en-US" sz="3250" dirty="0"/>
          </a:p>
        </p:txBody>
      </p:sp>
      <p:sp>
        <p:nvSpPr>
          <p:cNvPr id="4" name="Text 1"/>
          <p:cNvSpPr/>
          <p:nvPr/>
        </p:nvSpPr>
        <p:spPr>
          <a:xfrm>
            <a:off x="5233360" y="3282156"/>
            <a:ext cx="6296860" cy="1058466"/>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000000"/>
                </a:solidFill>
                <a:latin typeface="PT Sans" pitchFamily="34" charset="0"/>
                <a:ea typeface="PT Sans" pitchFamily="34" charset="-122"/>
                <a:cs typeface="PT Sans" pitchFamily="34" charset="-120"/>
              </a:rPr>
              <a:t>Certainty Factor mirip dengan cara hakim memutuskan perkara. Satu bukti (sidik jari) memberikan keyakinan awal. Ketika bukti kedua muncul (rekaman CCTV), keyakinan meningkat. CF mengukur seberapa yakin sistem terhadap suatu kesimpulan berdasarkan </a:t>
            </a:r>
            <a:r>
              <a:rPr lang="en-US" sz="1300" b="1" dirty="0">
                <a:solidFill>
                  <a:srgbClr val="F9D448"/>
                </a:solidFill>
                <a:latin typeface="PT Sans Bold" pitchFamily="34" charset="0"/>
                <a:ea typeface="PT Sans Bold" pitchFamily="34" charset="-122"/>
                <a:cs typeface="PT Sans Bold" pitchFamily="34" charset="-120"/>
              </a:rPr>
              <a:t>akumulasi bukti</a:t>
            </a:r>
            <a:r>
              <a:rPr lang="en-US" sz="1300" dirty="0">
                <a:solidFill>
                  <a:srgbClr val="000000"/>
                </a:solidFill>
                <a:latin typeface="PT Sans" pitchFamily="34" charset="0"/>
                <a:ea typeface="PT Sans" pitchFamily="34" charset="-122"/>
                <a:cs typeface="PT Sans" pitchFamily="34" charset="-120"/>
              </a:rPr>
              <a:t>.</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661475" y="566837"/>
            <a:ext cx="10868745" cy="516731"/>
          </a:xfrm>
          <a:prstGeom prst="rect">
            <a:avLst/>
          </a:prstGeom>
          <a:noFill/>
          <a:ln/>
        </p:spPr>
        <p:txBody>
          <a:bodyPr wrap="none" lIns="0" tIns="0" rIns="0" bIns="0" rtlCol="0" anchor="t"/>
          <a:lstStyle/>
          <a:p>
            <a:pPr marL="0" indent="0" algn="l">
              <a:lnSpc>
                <a:spcPct val="104000"/>
              </a:lnSpc>
              <a:buNone/>
            </a:pPr>
            <a:r>
              <a:rPr lang="en-US" sz="3250" b="1" dirty="0">
                <a:solidFill>
                  <a:srgbClr val="000000"/>
                </a:solidFill>
                <a:latin typeface="PT Sans Bold" pitchFamily="34" charset="0"/>
                <a:ea typeface="PT Sans Bold" pitchFamily="34" charset="-122"/>
                <a:cs typeface="PT Sans Bold" pitchFamily="34" charset="-120"/>
              </a:rPr>
              <a:t>Perbandingan Metode Penalaran Statistik</a:t>
            </a:r>
            <a:endParaRPr lang="en-US" sz="3250" dirty="0"/>
          </a:p>
        </p:txBody>
      </p:sp>
      <p:pic>
        <p:nvPicPr>
          <p:cNvPr id="3" name="Image 0" descr="preencoded.png"/>
          <p:cNvPicPr>
            <a:picLocks noChangeAspect="1"/>
          </p:cNvPicPr>
          <p:nvPr/>
        </p:nvPicPr>
        <p:blipFill>
          <a:blip r:embed="rId3"/>
          <a:stretch>
            <a:fillRect/>
          </a:stretch>
        </p:blipFill>
        <p:spPr>
          <a:xfrm>
            <a:off x="661475" y="1414264"/>
            <a:ext cx="8737381" cy="487680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661475" y="455811"/>
            <a:ext cx="10868745" cy="516731"/>
          </a:xfrm>
          <a:prstGeom prst="rect">
            <a:avLst/>
          </a:prstGeom>
          <a:noFill/>
          <a:ln/>
        </p:spPr>
        <p:txBody>
          <a:bodyPr wrap="none" lIns="0" tIns="0" rIns="0" bIns="0" rtlCol="0" anchor="t"/>
          <a:lstStyle/>
          <a:p>
            <a:pPr marL="0" indent="0" algn="l">
              <a:lnSpc>
                <a:spcPct val="104000"/>
              </a:lnSpc>
              <a:buNone/>
            </a:pPr>
            <a:r>
              <a:rPr lang="en-US" sz="3250" b="1" dirty="0">
                <a:solidFill>
                  <a:srgbClr val="000000"/>
                </a:solidFill>
                <a:latin typeface="PT Sans Bold" pitchFamily="34" charset="0"/>
                <a:ea typeface="PT Sans Bold" pitchFamily="34" charset="-122"/>
                <a:cs typeface="PT Sans Bold" pitchFamily="34" charset="-120"/>
              </a:rPr>
              <a:t>Diagram Alur: Mengatasi Ketidakpastian dalam AI</a:t>
            </a:r>
            <a:endParaRPr lang="en-US" sz="3250" dirty="0"/>
          </a:p>
        </p:txBody>
      </p:sp>
      <p:pic>
        <p:nvPicPr>
          <p:cNvPr id="3" name="Image 0" descr="preencoded.png"/>
          <p:cNvPicPr>
            <a:picLocks noChangeAspect="1"/>
          </p:cNvPicPr>
          <p:nvPr/>
        </p:nvPicPr>
        <p:blipFill>
          <a:blip r:embed="rId3"/>
          <a:stretch>
            <a:fillRect/>
          </a:stretch>
        </p:blipFill>
        <p:spPr>
          <a:xfrm>
            <a:off x="706221" y="1303238"/>
            <a:ext cx="10779153" cy="4648299"/>
          </a:xfrm>
          <a:prstGeom prst="rect">
            <a:avLst/>
          </a:prstGeom>
        </p:spPr>
      </p:pic>
      <p:sp>
        <p:nvSpPr>
          <p:cNvPr id="4" name="Text 1"/>
          <p:cNvSpPr/>
          <p:nvPr/>
        </p:nvSpPr>
        <p:spPr>
          <a:xfrm>
            <a:off x="1431583" y="5070046"/>
            <a:ext cx="2445408" cy="305684"/>
          </a:xfrm>
          <a:prstGeom prst="rect">
            <a:avLst/>
          </a:prstGeom>
          <a:noFill/>
          <a:ln/>
        </p:spPr>
        <p:txBody>
          <a:bodyPr wrap="none" lIns="0" tIns="0" rIns="0" bIns="0" rtlCol="0" anchor="t"/>
          <a:lstStyle/>
          <a:p>
            <a:pPr marL="0" indent="0" algn="l">
              <a:lnSpc>
                <a:spcPct val="104000"/>
              </a:lnSpc>
              <a:buNone/>
            </a:pPr>
            <a:r>
              <a:rPr lang="en-US" sz="1900" b="1" dirty="0">
                <a:solidFill>
                  <a:srgbClr val="000000"/>
                </a:solidFill>
                <a:latin typeface="PT Sans Bold" pitchFamily="34" charset="0"/>
                <a:ea typeface="PT Sans Bold" pitchFamily="34" charset="-122"/>
                <a:cs typeface="PT Sans Bold" pitchFamily="34" charset="-120"/>
              </a:rPr>
              <a:t>Certainty Factor</a:t>
            </a:r>
            <a:endParaRPr lang="en-US" sz="1900" dirty="0"/>
          </a:p>
        </p:txBody>
      </p:sp>
      <p:sp>
        <p:nvSpPr>
          <p:cNvPr id="5" name="Text 2"/>
          <p:cNvSpPr/>
          <p:nvPr/>
        </p:nvSpPr>
        <p:spPr>
          <a:xfrm>
            <a:off x="1431583" y="3994040"/>
            <a:ext cx="2445408" cy="305684"/>
          </a:xfrm>
          <a:prstGeom prst="rect">
            <a:avLst/>
          </a:prstGeom>
          <a:noFill/>
          <a:ln/>
        </p:spPr>
        <p:txBody>
          <a:bodyPr wrap="none" lIns="0" tIns="0" rIns="0" bIns="0" rtlCol="0" anchor="t"/>
          <a:lstStyle/>
          <a:p>
            <a:pPr marL="0" indent="0" algn="l">
              <a:lnSpc>
                <a:spcPct val="104000"/>
              </a:lnSpc>
              <a:buNone/>
            </a:pPr>
            <a:r>
              <a:rPr lang="en-US" sz="1900" b="1" dirty="0">
                <a:solidFill>
                  <a:srgbClr val="000000"/>
                </a:solidFill>
                <a:latin typeface="PT Sans Bold" pitchFamily="34" charset="0"/>
                <a:ea typeface="PT Sans Bold" pitchFamily="34" charset="-122"/>
                <a:cs typeface="PT Sans Bold" pitchFamily="34" charset="-120"/>
              </a:rPr>
              <a:t>Teorema Bayes</a:t>
            </a:r>
            <a:endParaRPr lang="en-US" sz="1900" dirty="0"/>
          </a:p>
        </p:txBody>
      </p:sp>
      <p:sp>
        <p:nvSpPr>
          <p:cNvPr id="6" name="Text 3"/>
          <p:cNvSpPr/>
          <p:nvPr/>
        </p:nvSpPr>
        <p:spPr>
          <a:xfrm>
            <a:off x="1431583" y="2928902"/>
            <a:ext cx="2445408" cy="305683"/>
          </a:xfrm>
          <a:prstGeom prst="rect">
            <a:avLst/>
          </a:prstGeom>
          <a:noFill/>
          <a:ln/>
        </p:spPr>
        <p:txBody>
          <a:bodyPr wrap="none" lIns="0" tIns="0" rIns="0" bIns="0" rtlCol="0" anchor="t"/>
          <a:lstStyle/>
          <a:p>
            <a:pPr marL="0" indent="0" algn="l">
              <a:lnSpc>
                <a:spcPct val="104000"/>
              </a:lnSpc>
              <a:buNone/>
            </a:pPr>
            <a:r>
              <a:rPr lang="en-US" sz="1900" b="1" dirty="0">
                <a:solidFill>
                  <a:srgbClr val="000000"/>
                </a:solidFill>
                <a:latin typeface="PT Sans Bold" pitchFamily="34" charset="0"/>
                <a:ea typeface="PT Sans Bold" pitchFamily="34" charset="-122"/>
                <a:cs typeface="PT Sans Bold" pitchFamily="34" charset="-120"/>
              </a:rPr>
              <a:t>Probabilitas</a:t>
            </a:r>
            <a:endParaRPr lang="en-US" sz="1900" dirty="0"/>
          </a:p>
        </p:txBody>
      </p:sp>
      <p:sp>
        <p:nvSpPr>
          <p:cNvPr id="7" name="Text 4"/>
          <p:cNvSpPr/>
          <p:nvPr/>
        </p:nvSpPr>
        <p:spPr>
          <a:xfrm>
            <a:off x="1431583" y="1852896"/>
            <a:ext cx="2445408" cy="305683"/>
          </a:xfrm>
          <a:prstGeom prst="rect">
            <a:avLst/>
          </a:prstGeom>
          <a:noFill/>
          <a:ln/>
        </p:spPr>
        <p:txBody>
          <a:bodyPr wrap="none" lIns="0" tIns="0" rIns="0" bIns="0" rtlCol="0" anchor="t"/>
          <a:lstStyle/>
          <a:p>
            <a:pPr marL="0" indent="0" algn="l">
              <a:lnSpc>
                <a:spcPct val="104000"/>
              </a:lnSpc>
              <a:buNone/>
            </a:pPr>
            <a:r>
              <a:rPr lang="en-US" sz="1900" b="1" dirty="0">
                <a:solidFill>
                  <a:srgbClr val="000000"/>
                </a:solidFill>
                <a:latin typeface="PT Sans Bold" pitchFamily="34" charset="0"/>
                <a:ea typeface="PT Sans Bold" pitchFamily="34" charset="-122"/>
                <a:cs typeface="PT Sans Bold" pitchFamily="34" charset="-120"/>
              </a:rPr>
              <a:t>Identifikasi</a:t>
            </a:r>
            <a:endParaRPr lang="en-US" sz="1900" dirty="0"/>
          </a:p>
        </p:txBody>
      </p:sp>
      <p:sp>
        <p:nvSpPr>
          <p:cNvPr id="8" name="Text 5"/>
          <p:cNvSpPr/>
          <p:nvPr/>
        </p:nvSpPr>
        <p:spPr>
          <a:xfrm>
            <a:off x="661475" y="6137573"/>
            <a:ext cx="11478330" cy="264616"/>
          </a:xfrm>
          <a:prstGeom prst="rect">
            <a:avLst/>
          </a:prstGeom>
          <a:noFill/>
          <a:ln/>
        </p:spPr>
        <p:txBody>
          <a:bodyPr wrap="none" lIns="0" tIns="0" rIns="0" bIns="0" rtlCol="0" anchor="t"/>
          <a:lstStyle/>
          <a:p>
            <a:pPr marL="0" indent="0" algn="l">
              <a:lnSpc>
                <a:spcPct val="133000"/>
              </a:lnSpc>
              <a:buNone/>
            </a:pPr>
            <a:r>
              <a:rPr lang="en-US" sz="1300" dirty="0">
                <a:solidFill>
                  <a:srgbClr val="000000"/>
                </a:solidFill>
                <a:latin typeface="PT Sans" pitchFamily="34" charset="0"/>
                <a:ea typeface="PT Sans" pitchFamily="34" charset="-122"/>
                <a:cs typeface="PT Sans" pitchFamily="34" charset="-120"/>
              </a:rPr>
              <a:t>Proses ini memungkinkan sistem AI memberikan kesimpulan yang terukur meskipun informasi tidak lengkap.</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4571886" cy="6858000"/>
          </a:xfrm>
          <a:prstGeom prst="rect">
            <a:avLst/>
          </a:prstGeom>
        </p:spPr>
      </p:pic>
      <p:pic>
        <p:nvPicPr>
          <p:cNvPr id="3" name="Image 1" descr="preencoded.png"/>
          <p:cNvPicPr>
            <a:picLocks noChangeAspect="1"/>
          </p:cNvPicPr>
          <p:nvPr/>
        </p:nvPicPr>
        <p:blipFill>
          <a:blip r:embed="rId4"/>
          <a:stretch>
            <a:fillRect/>
          </a:stretch>
        </p:blipFill>
        <p:spPr>
          <a:xfrm>
            <a:off x="1301717" y="2273300"/>
            <a:ext cx="1968451" cy="2311400"/>
          </a:xfrm>
          <a:prstGeom prst="rect">
            <a:avLst/>
          </a:prstGeom>
        </p:spPr>
      </p:pic>
      <p:sp>
        <p:nvSpPr>
          <p:cNvPr id="4" name="Text 0"/>
          <p:cNvSpPr/>
          <p:nvPr/>
        </p:nvSpPr>
        <p:spPr>
          <a:xfrm>
            <a:off x="5233360" y="2649637"/>
            <a:ext cx="6296860" cy="516731"/>
          </a:xfrm>
          <a:prstGeom prst="rect">
            <a:avLst/>
          </a:prstGeom>
          <a:noFill/>
          <a:ln/>
        </p:spPr>
        <p:txBody>
          <a:bodyPr wrap="none" lIns="0" tIns="0" rIns="0" bIns="0" rtlCol="0" anchor="t"/>
          <a:lstStyle/>
          <a:p>
            <a:pPr marL="0" indent="0" algn="l">
              <a:lnSpc>
                <a:spcPct val="104000"/>
              </a:lnSpc>
              <a:buNone/>
            </a:pPr>
            <a:r>
              <a:rPr lang="en-US" sz="3250" b="1" dirty="0">
                <a:solidFill>
                  <a:srgbClr val="000000"/>
                </a:solidFill>
                <a:latin typeface="PT Sans Bold" pitchFamily="34" charset="0"/>
                <a:ea typeface="PT Sans Bold" pitchFamily="34" charset="-122"/>
                <a:cs typeface="PT Sans Bold" pitchFamily="34" charset="-120"/>
              </a:rPr>
              <a:t>Diagram Hubungan Antar Konsep</a:t>
            </a:r>
            <a:endParaRPr lang="en-US" sz="3250" dirty="0"/>
          </a:p>
        </p:txBody>
      </p:sp>
      <p:sp>
        <p:nvSpPr>
          <p:cNvPr id="5" name="Text 1"/>
          <p:cNvSpPr/>
          <p:nvPr/>
        </p:nvSpPr>
        <p:spPr>
          <a:xfrm>
            <a:off x="5233360" y="3414415"/>
            <a:ext cx="6296860" cy="793849"/>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000000"/>
                </a:solidFill>
                <a:latin typeface="PT Sans" pitchFamily="34" charset="0"/>
                <a:ea typeface="PT Sans" pitchFamily="34" charset="-122"/>
                <a:cs typeface="PT Sans" pitchFamily="34" charset="-120"/>
              </a:rPr>
              <a:t>Diagram kausal ini menggambarkan hubungan antara </a:t>
            </a:r>
            <a:r>
              <a:rPr lang="en-US" sz="1300" b="1" dirty="0">
                <a:solidFill>
                  <a:srgbClr val="000000"/>
                </a:solidFill>
                <a:latin typeface="PT Sans Bold" pitchFamily="34" charset="0"/>
                <a:ea typeface="PT Sans Bold" pitchFamily="34" charset="-122"/>
                <a:cs typeface="PT Sans Bold" pitchFamily="34" charset="-120"/>
              </a:rPr>
              <a:t>bintik</a:t>
            </a:r>
            <a:r>
              <a:rPr lang="en-US" sz="1300" dirty="0">
                <a:solidFill>
                  <a:srgbClr val="000000"/>
                </a:solidFill>
                <a:latin typeface="PT Sans" pitchFamily="34" charset="0"/>
                <a:ea typeface="PT Sans" pitchFamily="34" charset="-122"/>
                <a:cs typeface="PT Sans" pitchFamily="34" charset="-120"/>
              </a:rPr>
              <a:t> (spots) dan </a:t>
            </a:r>
            <a:r>
              <a:rPr lang="en-US" sz="1300" b="1" dirty="0">
                <a:solidFill>
                  <a:srgbClr val="000000"/>
                </a:solidFill>
                <a:latin typeface="PT Sans Bold" pitchFamily="34" charset="0"/>
                <a:ea typeface="PT Sans Bold" pitchFamily="34" charset="-122"/>
                <a:cs typeface="PT Sans Bold" pitchFamily="34" charset="-120"/>
              </a:rPr>
              <a:t>panas</a:t>
            </a:r>
            <a:r>
              <a:rPr lang="en-US" sz="1300" dirty="0">
                <a:solidFill>
                  <a:srgbClr val="000000"/>
                </a:solidFill>
                <a:latin typeface="PT Sans" pitchFamily="34" charset="0"/>
                <a:ea typeface="PT Sans" pitchFamily="34" charset="-122"/>
                <a:cs typeface="PT Sans" pitchFamily="34" charset="-120"/>
              </a:rPr>
              <a:t> (fever) yang saling berkaitan, keduanya mengarah ke </a:t>
            </a:r>
            <a:r>
              <a:rPr lang="en-US" sz="1300" b="1" dirty="0">
                <a:solidFill>
                  <a:srgbClr val="000000"/>
                </a:solidFill>
                <a:latin typeface="PT Sans Bold" pitchFamily="34" charset="0"/>
                <a:ea typeface="PT Sans Bold" pitchFamily="34" charset="-122"/>
                <a:cs typeface="PT Sans Bold" pitchFamily="34" charset="-120"/>
              </a:rPr>
              <a:t>cacar</a:t>
            </a:r>
            <a:r>
              <a:rPr lang="en-US" sz="1300" dirty="0">
                <a:solidFill>
                  <a:srgbClr val="000000"/>
                </a:solidFill>
                <a:latin typeface="PT Sans" pitchFamily="34" charset="0"/>
                <a:ea typeface="PT Sans" pitchFamily="34" charset="-122"/>
                <a:cs typeface="PT Sans" pitchFamily="34" charset="-120"/>
              </a:rPr>
              <a:t> sebagai hipotesis. Ini adalah contoh nyata bagaimana evidence saling terhubung dalam penalaran Bayesian.</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4571886" cy="6858000"/>
          </a:xfrm>
          <a:prstGeom prst="rect">
            <a:avLst/>
          </a:prstGeom>
        </p:spPr>
      </p:pic>
      <p:sp>
        <p:nvSpPr>
          <p:cNvPr id="3" name="Text 0"/>
          <p:cNvSpPr/>
          <p:nvPr/>
        </p:nvSpPr>
        <p:spPr>
          <a:xfrm>
            <a:off x="5233360" y="735112"/>
            <a:ext cx="6296860" cy="516731"/>
          </a:xfrm>
          <a:prstGeom prst="rect">
            <a:avLst/>
          </a:prstGeom>
          <a:noFill/>
          <a:ln/>
        </p:spPr>
        <p:txBody>
          <a:bodyPr wrap="none" lIns="0" tIns="0" rIns="0" bIns="0" rtlCol="0" anchor="t"/>
          <a:lstStyle/>
          <a:p>
            <a:pPr marL="0" indent="0" algn="l">
              <a:lnSpc>
                <a:spcPct val="104000"/>
              </a:lnSpc>
              <a:buNone/>
            </a:pPr>
            <a:r>
              <a:rPr lang="en-US" sz="3250" b="1" dirty="0">
                <a:solidFill>
                  <a:srgbClr val="000000"/>
                </a:solidFill>
                <a:latin typeface="PT Sans Bold" pitchFamily="34" charset="0"/>
                <a:ea typeface="PT Sans Bold" pitchFamily="34" charset="-122"/>
                <a:cs typeface="PT Sans Bold" pitchFamily="34" charset="-120"/>
              </a:rPr>
              <a:t>Ringkasan &amp; Kesimpulan</a:t>
            </a:r>
            <a:endParaRPr lang="en-US" sz="3250" dirty="0"/>
          </a:p>
        </p:txBody>
      </p:sp>
      <p:sp>
        <p:nvSpPr>
          <p:cNvPr id="4" name="Shape 1"/>
          <p:cNvSpPr/>
          <p:nvPr/>
        </p:nvSpPr>
        <p:spPr>
          <a:xfrm>
            <a:off x="5233360" y="1499890"/>
            <a:ext cx="6296860" cy="1230213"/>
          </a:xfrm>
          <a:prstGeom prst="roundRect">
            <a:avLst>
              <a:gd name="adj" fmla="val 5647"/>
            </a:avLst>
          </a:prstGeom>
          <a:solidFill>
            <a:srgbClr val="FDF3CE"/>
          </a:solidFill>
          <a:ln w="6350">
            <a:solidFill>
              <a:srgbClr val="E3D9B4"/>
            </a:solidFill>
            <a:prstDash val="solid"/>
          </a:ln>
        </p:spPr>
      </p:sp>
      <p:sp>
        <p:nvSpPr>
          <p:cNvPr id="5" name="Text 2"/>
          <p:cNvSpPr/>
          <p:nvPr/>
        </p:nvSpPr>
        <p:spPr>
          <a:xfrm>
            <a:off x="5405005" y="1671538"/>
            <a:ext cx="5953571" cy="258465"/>
          </a:xfrm>
          <a:prstGeom prst="rect">
            <a:avLst/>
          </a:prstGeom>
          <a:noFill/>
          <a:ln/>
        </p:spPr>
        <p:txBody>
          <a:bodyPr wrap="none" lIns="0" tIns="0" rIns="0" bIns="0" rtlCol="0" anchor="t"/>
          <a:lstStyle/>
          <a:p>
            <a:pPr marL="0" indent="0" algn="l">
              <a:lnSpc>
                <a:spcPct val="104000"/>
              </a:lnSpc>
              <a:buNone/>
            </a:pPr>
            <a:r>
              <a:rPr lang="en-US" sz="1600" b="1" dirty="0">
                <a:solidFill>
                  <a:srgbClr val="000000"/>
                </a:solidFill>
                <a:latin typeface="PT Sans Bold" pitchFamily="34" charset="0"/>
                <a:ea typeface="PT Sans Bold" pitchFamily="34" charset="-122"/>
                <a:cs typeface="PT Sans Bold" pitchFamily="34" charset="-120"/>
              </a:rPr>
              <a:t>Ketidakpastian</a:t>
            </a:r>
            <a:endParaRPr lang="en-US" sz="1600" dirty="0"/>
          </a:p>
        </p:txBody>
      </p:sp>
      <p:sp>
        <p:nvSpPr>
          <p:cNvPr id="6" name="Text 3"/>
          <p:cNvSpPr/>
          <p:nvPr/>
        </p:nvSpPr>
        <p:spPr>
          <a:xfrm>
            <a:off x="5405005" y="2029222"/>
            <a:ext cx="5953571"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000000"/>
                </a:solidFill>
                <a:latin typeface="PT Sans" pitchFamily="34" charset="0"/>
                <a:ea typeface="PT Sans" pitchFamily="34" charset="-122"/>
                <a:cs typeface="PT Sans" pitchFamily="34" charset="-120"/>
              </a:rPr>
              <a:t>Muncul karena fakta tidak lengkap dan penambahan premis baru dapat menggugurkan konklusi lama.</a:t>
            </a:r>
            <a:endParaRPr lang="en-US" sz="1300" dirty="0"/>
          </a:p>
        </p:txBody>
      </p:sp>
      <p:sp>
        <p:nvSpPr>
          <p:cNvPr id="7" name="Shape 4"/>
          <p:cNvSpPr/>
          <p:nvPr/>
        </p:nvSpPr>
        <p:spPr>
          <a:xfrm>
            <a:off x="5233360" y="2895402"/>
            <a:ext cx="6296860" cy="965597"/>
          </a:xfrm>
          <a:prstGeom prst="roundRect">
            <a:avLst>
              <a:gd name="adj" fmla="val 7194"/>
            </a:avLst>
          </a:prstGeom>
          <a:solidFill>
            <a:srgbClr val="FDF3CE"/>
          </a:solidFill>
          <a:ln w="6350">
            <a:solidFill>
              <a:srgbClr val="E3D9B4"/>
            </a:solidFill>
            <a:prstDash val="solid"/>
          </a:ln>
        </p:spPr>
      </p:sp>
      <p:sp>
        <p:nvSpPr>
          <p:cNvPr id="8" name="Text 5"/>
          <p:cNvSpPr/>
          <p:nvPr/>
        </p:nvSpPr>
        <p:spPr>
          <a:xfrm>
            <a:off x="5405005" y="3067050"/>
            <a:ext cx="5953571" cy="258465"/>
          </a:xfrm>
          <a:prstGeom prst="rect">
            <a:avLst/>
          </a:prstGeom>
          <a:noFill/>
          <a:ln/>
        </p:spPr>
        <p:txBody>
          <a:bodyPr wrap="none" lIns="0" tIns="0" rIns="0" bIns="0" rtlCol="0" anchor="t"/>
          <a:lstStyle/>
          <a:p>
            <a:pPr marL="0" indent="0" algn="l">
              <a:lnSpc>
                <a:spcPct val="104000"/>
              </a:lnSpc>
              <a:buNone/>
            </a:pPr>
            <a:r>
              <a:rPr lang="en-US" sz="1600" b="1" dirty="0">
                <a:solidFill>
                  <a:srgbClr val="000000"/>
                </a:solidFill>
                <a:latin typeface="PT Sans Bold" pitchFamily="34" charset="0"/>
                <a:ea typeface="PT Sans Bold" pitchFamily="34" charset="-122"/>
                <a:cs typeface="PT Sans Bold" pitchFamily="34" charset="-120"/>
              </a:rPr>
              <a:t>Probabilitas</a:t>
            </a:r>
            <a:endParaRPr lang="en-US" sz="1600" dirty="0"/>
          </a:p>
        </p:txBody>
      </p:sp>
      <p:sp>
        <p:nvSpPr>
          <p:cNvPr id="9" name="Text 6"/>
          <p:cNvSpPr/>
          <p:nvPr/>
        </p:nvSpPr>
        <p:spPr>
          <a:xfrm>
            <a:off x="5405005" y="3424734"/>
            <a:ext cx="5953571" cy="264616"/>
          </a:xfrm>
          <a:prstGeom prst="rect">
            <a:avLst/>
          </a:prstGeom>
          <a:noFill/>
          <a:ln/>
        </p:spPr>
        <p:txBody>
          <a:bodyPr wrap="none" lIns="0" tIns="0" rIns="0" bIns="0" rtlCol="0" anchor="t"/>
          <a:lstStyle/>
          <a:p>
            <a:pPr marL="0" indent="0" algn="l">
              <a:lnSpc>
                <a:spcPct val="133000"/>
              </a:lnSpc>
              <a:buNone/>
            </a:pPr>
            <a:r>
              <a:rPr lang="en-US" sz="1300" dirty="0">
                <a:solidFill>
                  <a:srgbClr val="000000"/>
                </a:solidFill>
                <a:latin typeface="PT Sans" pitchFamily="34" charset="0"/>
                <a:ea typeface="PT Sans" pitchFamily="34" charset="-122"/>
                <a:cs typeface="PT Sans" pitchFamily="34" charset="-120"/>
              </a:rPr>
              <a:t>Mengukur kemungkinan kejadian: </a:t>
            </a:r>
            <a:r>
              <a:rPr lang="en-US" sz="1300" i="1" dirty="0">
                <a:solidFill>
                  <a:srgbClr val="000000"/>
                </a:solidFill>
                <a:latin typeface="PT Sans" pitchFamily="34" charset="0"/>
                <a:ea typeface="PT Sans" pitchFamily="34" charset="-122"/>
                <a:cs typeface="PT Sans" pitchFamily="34" charset="-120"/>
              </a:rPr>
              <a:t>      </a:t>
            </a:r>
            <a:endParaRPr lang="en-US" sz="1300" dirty="0"/>
          </a:p>
        </p:txBody>
      </p:sp>
      <p:pic>
        <p:nvPicPr>
          <p:cNvPr id="10" name="Image 1" descr="preencoded.png"/>
          <p:cNvPicPr>
            <a:picLocks noChangeAspect="1"/>
          </p:cNvPicPr>
          <p:nvPr/>
        </p:nvPicPr>
        <p:blipFill>
          <a:blip r:embed="rId4"/>
          <a:stretch>
            <a:fillRect/>
          </a:stretch>
        </p:blipFill>
        <p:spPr>
          <a:xfrm>
            <a:off x="7823996" y="3462834"/>
            <a:ext cx="937693" cy="213618"/>
          </a:xfrm>
          <a:prstGeom prst="rect">
            <a:avLst/>
          </a:prstGeom>
        </p:spPr>
      </p:pic>
      <p:sp>
        <p:nvSpPr>
          <p:cNvPr id="11" name="Shape 7"/>
          <p:cNvSpPr/>
          <p:nvPr/>
        </p:nvSpPr>
        <p:spPr>
          <a:xfrm>
            <a:off x="5233360" y="4026297"/>
            <a:ext cx="6296860" cy="965597"/>
          </a:xfrm>
          <a:prstGeom prst="roundRect">
            <a:avLst>
              <a:gd name="adj" fmla="val 7194"/>
            </a:avLst>
          </a:prstGeom>
          <a:solidFill>
            <a:srgbClr val="FDF3CE"/>
          </a:solidFill>
          <a:ln w="6350">
            <a:solidFill>
              <a:srgbClr val="E3D9B4"/>
            </a:solidFill>
            <a:prstDash val="solid"/>
          </a:ln>
        </p:spPr>
      </p:sp>
      <p:sp>
        <p:nvSpPr>
          <p:cNvPr id="12" name="Text 8"/>
          <p:cNvSpPr/>
          <p:nvPr/>
        </p:nvSpPr>
        <p:spPr>
          <a:xfrm>
            <a:off x="5405005" y="4197945"/>
            <a:ext cx="5953571" cy="258465"/>
          </a:xfrm>
          <a:prstGeom prst="rect">
            <a:avLst/>
          </a:prstGeom>
          <a:noFill/>
          <a:ln/>
        </p:spPr>
        <p:txBody>
          <a:bodyPr wrap="none" lIns="0" tIns="0" rIns="0" bIns="0" rtlCol="0" anchor="t"/>
          <a:lstStyle/>
          <a:p>
            <a:pPr marL="0" indent="0" algn="l">
              <a:lnSpc>
                <a:spcPct val="104000"/>
              </a:lnSpc>
              <a:buNone/>
            </a:pPr>
            <a:r>
              <a:rPr lang="en-US" sz="1600" b="1" dirty="0">
                <a:solidFill>
                  <a:srgbClr val="000000"/>
                </a:solidFill>
                <a:latin typeface="PT Sans Bold" pitchFamily="34" charset="0"/>
                <a:ea typeface="PT Sans Bold" pitchFamily="34" charset="-122"/>
                <a:cs typeface="PT Sans Bold" pitchFamily="34" charset="-120"/>
              </a:rPr>
              <a:t>Teorema Bayes</a:t>
            </a:r>
            <a:endParaRPr lang="en-US" sz="1600" dirty="0"/>
          </a:p>
        </p:txBody>
      </p:sp>
      <p:sp>
        <p:nvSpPr>
          <p:cNvPr id="13" name="Text 9"/>
          <p:cNvSpPr/>
          <p:nvPr/>
        </p:nvSpPr>
        <p:spPr>
          <a:xfrm>
            <a:off x="5405005" y="4555629"/>
            <a:ext cx="5953571" cy="264616"/>
          </a:xfrm>
          <a:prstGeom prst="rect">
            <a:avLst/>
          </a:prstGeom>
          <a:noFill/>
          <a:ln/>
        </p:spPr>
        <p:txBody>
          <a:bodyPr wrap="none" lIns="0" tIns="0" rIns="0" bIns="0" rtlCol="0" anchor="t"/>
          <a:lstStyle/>
          <a:p>
            <a:pPr marL="0" indent="0" algn="l">
              <a:lnSpc>
                <a:spcPct val="133000"/>
              </a:lnSpc>
              <a:buNone/>
            </a:pPr>
            <a:r>
              <a:rPr lang="en-US" sz="1300" dirty="0">
                <a:solidFill>
                  <a:srgbClr val="000000"/>
                </a:solidFill>
                <a:latin typeface="PT Sans" pitchFamily="34" charset="0"/>
                <a:ea typeface="PT Sans" pitchFamily="34" charset="-122"/>
                <a:cs typeface="PT Sans" pitchFamily="34" charset="-120"/>
              </a:rPr>
              <a:t>Memperbarui probabilitas hipotesis berdasarkan evidence baru secara sistematis.</a:t>
            </a:r>
            <a:endParaRPr lang="en-US" sz="1300" dirty="0"/>
          </a:p>
        </p:txBody>
      </p:sp>
      <p:sp>
        <p:nvSpPr>
          <p:cNvPr id="14" name="Shape 10"/>
          <p:cNvSpPr/>
          <p:nvPr/>
        </p:nvSpPr>
        <p:spPr>
          <a:xfrm>
            <a:off x="5233360" y="5157192"/>
            <a:ext cx="6296860" cy="965597"/>
          </a:xfrm>
          <a:prstGeom prst="roundRect">
            <a:avLst>
              <a:gd name="adj" fmla="val 7194"/>
            </a:avLst>
          </a:prstGeom>
          <a:solidFill>
            <a:srgbClr val="FDF3CE"/>
          </a:solidFill>
          <a:ln w="6350">
            <a:solidFill>
              <a:srgbClr val="E3D9B4"/>
            </a:solidFill>
            <a:prstDash val="solid"/>
          </a:ln>
        </p:spPr>
      </p:sp>
      <p:sp>
        <p:nvSpPr>
          <p:cNvPr id="15" name="Text 11"/>
          <p:cNvSpPr/>
          <p:nvPr/>
        </p:nvSpPr>
        <p:spPr>
          <a:xfrm>
            <a:off x="5405005" y="5328841"/>
            <a:ext cx="5953571" cy="258465"/>
          </a:xfrm>
          <a:prstGeom prst="rect">
            <a:avLst/>
          </a:prstGeom>
          <a:noFill/>
          <a:ln/>
        </p:spPr>
        <p:txBody>
          <a:bodyPr wrap="none" lIns="0" tIns="0" rIns="0" bIns="0" rtlCol="0" anchor="t"/>
          <a:lstStyle/>
          <a:p>
            <a:pPr marL="0" indent="0" algn="l">
              <a:lnSpc>
                <a:spcPct val="104000"/>
              </a:lnSpc>
              <a:buNone/>
            </a:pPr>
            <a:r>
              <a:rPr lang="en-US" sz="1600" b="1" dirty="0">
                <a:solidFill>
                  <a:srgbClr val="000000"/>
                </a:solidFill>
                <a:latin typeface="PT Sans Bold" pitchFamily="34" charset="0"/>
                <a:ea typeface="PT Sans Bold" pitchFamily="34" charset="-122"/>
                <a:cs typeface="PT Sans Bold" pitchFamily="34" charset="-120"/>
              </a:rPr>
              <a:t>Certainty Factor</a:t>
            </a:r>
            <a:endParaRPr lang="en-US" sz="1600" dirty="0"/>
          </a:p>
        </p:txBody>
      </p:sp>
      <p:sp>
        <p:nvSpPr>
          <p:cNvPr id="16" name="Text 12"/>
          <p:cNvSpPr/>
          <p:nvPr/>
        </p:nvSpPr>
        <p:spPr>
          <a:xfrm>
            <a:off x="5405005" y="5686524"/>
            <a:ext cx="5953571" cy="264616"/>
          </a:xfrm>
          <a:prstGeom prst="rect">
            <a:avLst/>
          </a:prstGeom>
          <a:noFill/>
          <a:ln/>
        </p:spPr>
        <p:txBody>
          <a:bodyPr wrap="none" lIns="0" tIns="0" rIns="0" bIns="0" rtlCol="0" anchor="t"/>
          <a:lstStyle/>
          <a:p>
            <a:pPr marL="0" indent="0" algn="l">
              <a:lnSpc>
                <a:spcPct val="133000"/>
              </a:lnSpc>
              <a:buNone/>
            </a:pPr>
            <a:r>
              <a:rPr lang="en-US" sz="1300" dirty="0">
                <a:solidFill>
                  <a:srgbClr val="000000"/>
                </a:solidFill>
                <a:latin typeface="PT Sans" pitchFamily="34" charset="0"/>
                <a:ea typeface="PT Sans" pitchFamily="34" charset="-122"/>
                <a:cs typeface="PT Sans" pitchFamily="34" charset="-120"/>
              </a:rPr>
              <a:t>Mengukur kepastian dengan </a:t>
            </a:r>
            <a:r>
              <a:rPr lang="en-US" sz="1300" i="1" dirty="0">
                <a:solidFill>
                  <a:srgbClr val="000000"/>
                </a:solidFill>
                <a:latin typeface="PT Sans" pitchFamily="34" charset="0"/>
                <a:ea typeface="PT Sans" pitchFamily="34" charset="-122"/>
                <a:cs typeface="PT Sans" pitchFamily="34" charset="-120"/>
              </a:rPr>
              <a:t>         </a:t>
            </a:r>
            <a:r>
              <a:rPr lang="en-US" sz="1300" dirty="0">
                <a:solidFill>
                  <a:srgbClr val="000000"/>
                </a:solidFill>
                <a:latin typeface="PT Sans" pitchFamily="34" charset="0"/>
                <a:ea typeface="PT Sans" pitchFamily="34" charset="-122"/>
                <a:cs typeface="PT Sans" pitchFamily="34" charset="-120"/>
              </a:rPr>
              <a:t>, diperbarui setiap ada evidence baru.</a:t>
            </a:r>
            <a:endParaRPr lang="en-US" sz="1300" dirty="0"/>
          </a:p>
        </p:txBody>
      </p:sp>
      <p:pic>
        <p:nvPicPr>
          <p:cNvPr id="17" name="Image 2" descr="preencoded.png"/>
          <p:cNvPicPr>
            <a:picLocks noChangeAspect="1"/>
          </p:cNvPicPr>
          <p:nvPr/>
        </p:nvPicPr>
        <p:blipFill>
          <a:blip r:embed="rId5"/>
          <a:stretch>
            <a:fillRect/>
          </a:stretch>
        </p:blipFill>
        <p:spPr>
          <a:xfrm>
            <a:off x="7444296" y="5724624"/>
            <a:ext cx="1283660" cy="213618"/>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1433</Words>
  <Application>Microsoft Office PowerPoint</Application>
  <PresentationFormat>Widescreen</PresentationFormat>
  <Paragraphs>203</Paragraphs>
  <Slides>35</Slides>
  <Notes>35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35</vt:i4>
      </vt:variant>
    </vt:vector>
  </HeadingPairs>
  <TitlesOfParts>
    <vt:vector size="39" baseType="lpstr">
      <vt:lpstr>Arial</vt:lpstr>
      <vt:lpstr>PT Sans Bold</vt:lpstr>
      <vt:lpstr>PT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unm mksr</cp:lastModifiedBy>
  <cp:revision>1</cp:revision>
  <dcterms:created xsi:type="dcterms:W3CDTF">2026-09-22T22:47:49Z</dcterms:created>
  <dcterms:modified xsi:type="dcterms:W3CDTF">2026-09-22T22:48:58Z</dcterms:modified>
</cp:coreProperties>
</file>